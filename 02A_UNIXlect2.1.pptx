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912" r:id="rId1"/>
  </p:sldMasterIdLst>
  <p:notesMasterIdLst>
    <p:notesMasterId r:id="rId42"/>
  </p:notesMasterIdLst>
  <p:handoutMasterIdLst>
    <p:handoutMasterId r:id="rId43"/>
  </p:handoutMasterIdLst>
  <p:sldIdLst>
    <p:sldId id="311" r:id="rId2"/>
    <p:sldId id="285" r:id="rId3"/>
    <p:sldId id="288" r:id="rId4"/>
    <p:sldId id="289" r:id="rId5"/>
    <p:sldId id="293" r:id="rId6"/>
    <p:sldId id="286" r:id="rId7"/>
    <p:sldId id="292" r:id="rId8"/>
    <p:sldId id="316" r:id="rId9"/>
    <p:sldId id="317" r:id="rId10"/>
    <p:sldId id="318" r:id="rId11"/>
    <p:sldId id="287" r:id="rId12"/>
    <p:sldId id="302" r:id="rId13"/>
    <p:sldId id="304" r:id="rId14"/>
    <p:sldId id="256" r:id="rId15"/>
    <p:sldId id="284" r:id="rId16"/>
    <p:sldId id="306" r:id="rId17"/>
    <p:sldId id="257" r:id="rId18"/>
    <p:sldId id="275" r:id="rId19"/>
    <p:sldId id="312" r:id="rId20"/>
    <p:sldId id="307" r:id="rId21"/>
    <p:sldId id="300" r:id="rId22"/>
    <p:sldId id="301" r:id="rId23"/>
    <p:sldId id="308" r:id="rId24"/>
    <p:sldId id="314" r:id="rId25"/>
    <p:sldId id="315" r:id="rId26"/>
    <p:sldId id="319" r:id="rId27"/>
    <p:sldId id="258" r:id="rId28"/>
    <p:sldId id="276" r:id="rId29"/>
    <p:sldId id="309" r:id="rId30"/>
    <p:sldId id="263" r:id="rId31"/>
    <p:sldId id="278" r:id="rId32"/>
    <p:sldId id="310" r:id="rId33"/>
    <p:sldId id="266" r:id="rId34"/>
    <p:sldId id="279" r:id="rId35"/>
    <p:sldId id="295" r:id="rId36"/>
    <p:sldId id="270" r:id="rId37"/>
    <p:sldId id="280" r:id="rId38"/>
    <p:sldId id="282" r:id="rId39"/>
    <p:sldId id="264" r:id="rId40"/>
    <p:sldId id="291" r:id="rId4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31"/>
  </p:normalViewPr>
  <p:slideViewPr>
    <p:cSldViewPr>
      <p:cViewPr varScale="1">
        <p:scale>
          <a:sx n="97" d="100"/>
          <a:sy n="97" d="100"/>
        </p:scale>
        <p:origin x="8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ACE343A2-9883-3C41-A0F0-58ED547EDB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FD68FA6A-6DB4-6D4E-918D-9ADE46790A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6" name="Rectangle 4">
            <a:extLst>
              <a:ext uri="{FF2B5EF4-FFF2-40B4-BE49-F238E27FC236}">
                <a16:creationId xmlns:a16="http://schemas.microsoft.com/office/drawing/2014/main" id="{BE064E22-D85D-7E41-A7E5-15BE9C92F4C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025F30D4-D0D2-924F-A501-101C9961AD0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2" charset="0"/>
              </a:defRPr>
            </a:lvl1pPr>
          </a:lstStyle>
          <a:p>
            <a:fld id="{3F8B4E7D-3EDD-B04C-9F68-83F0E40260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727ECE65-FF07-B942-B825-5B7512DA61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B78E6688-611B-B944-804D-C3E6D090CF7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0A2AC38-1399-824D-8B0B-006A19DF44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3" name="Rectangle 5">
            <a:extLst>
              <a:ext uri="{FF2B5EF4-FFF2-40B4-BE49-F238E27FC236}">
                <a16:creationId xmlns:a16="http://schemas.microsoft.com/office/drawing/2014/main" id="{FB6825E2-2818-064D-8916-AEDAF17F73F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0294" name="Rectangle 6">
            <a:extLst>
              <a:ext uri="{FF2B5EF4-FFF2-40B4-BE49-F238E27FC236}">
                <a16:creationId xmlns:a16="http://schemas.microsoft.com/office/drawing/2014/main" id="{3F575B01-9AD2-DB4F-BA81-17E5A5DC83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295" name="Rectangle 7">
            <a:extLst>
              <a:ext uri="{FF2B5EF4-FFF2-40B4-BE49-F238E27FC236}">
                <a16:creationId xmlns:a16="http://schemas.microsoft.com/office/drawing/2014/main" id="{A978211B-AE6E-AD4D-8B73-1C8E06568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2" charset="0"/>
              </a:defRPr>
            </a:lvl1pPr>
          </a:lstStyle>
          <a:p>
            <a:fld id="{4E1F9F1E-9C90-2C44-8441-2039A706ABD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ＭＳ Ｐ明朝" charset="0"/>
        <a:cs typeface="ＭＳ Ｐ明朝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ＭＳ Ｐ明朝" charset="0"/>
        <a:cs typeface="ＭＳ Ｐ明朝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ＭＳ Ｐ明朝" charset="0"/>
        <a:cs typeface="ＭＳ Ｐ明朝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ＭＳ Ｐ明朝" charset="0"/>
        <a:cs typeface="ＭＳ Ｐ明朝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ＭＳ Ｐ明朝" charset="0"/>
        <a:cs typeface="ＭＳ Ｐ明朝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E490B-1306-AE44-8B09-3298BD0128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DA25334C-2315-EB44-86B6-C7C3F62F0777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1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EBEE4B4B-88E6-6541-B9B0-0796C5084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8248BC-23BB-3F48-9193-C0299FDAA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First, I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’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m gonna go through Unix System. </a:t>
            </a:r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86BA708-8CAC-6041-8CCE-8CD51C5D55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C318BAD-8628-8D41-B8CE-4644213A4BB8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2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00B0970-2592-3347-A8AF-543567DAA3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59FC376-B9E8-6549-8D68-4102E8014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dirty="0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EAA753CC-3B5D-2B4A-B043-88617C9A2D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1DB1711-29F8-4E41-AA16-FE20033ACC4D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6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34D5268-54F0-624C-9738-3CCA533F54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4FDC21C-2FF3-4246-B049-DD47854B7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Inside /bin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arch           cut            gawk      ls             red        tar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ash            date           gettext   mail           rm         tcsh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ash.static     dd             grep      mkdir          rmdir      touch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aumix-minimal  df             gtar      mknod          rpm        true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awk            dmesg          gunzip    mktemp         rvi        umount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basename       dnsdomainname  gzip      more           rview      uname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bash           doexec         hostname  mount          sed        unicode_start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bash2          domainname     igawk     mt             setfont    unicode_stop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bsh            dumpkeys       ipcalc    mv             setserial  unlink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cat            echo           kbd_mode  netstat        sfxload    usleep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chgrp          ed             kill      nice           sh         vi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chmod          egrep          ksh       nisdomainname  sleep      view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chown          env            link      pgawk          sort       ypdomainname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cp             ex             ln        ping           stty       zcat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cpio           false          loadkeys  ps             su         zsh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csh            fgrep          login     pwd            sync       zsh-4.0.4</a:t>
            </a:r>
          </a:p>
          <a:p>
            <a:pPr eaLnBrk="1" hangingPunct="1"/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BA37484-3D24-9946-8068-DC628D4500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2B7774A-64BC-F948-8EEC-2E6845F0B040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7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556BBD23-A300-FA4A-99DB-B67890D2B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30BF148-80CF-F844-A069-C1949D1F0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Inside /sbin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Mkfs, insmod, halt shutdown ifconfig </a:t>
            </a:r>
            <a:r>
              <a:rPr lang="en-US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…</a:t>
            </a:r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1F160C8-BB95-0046-8FE2-81010D1F05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F36DF083-A80C-004D-8800-C008F16E7D4F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14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64E817D-7ED9-464F-9DB0-BC0CFA2D04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E147DF2-9648-444F-B5DE-D6C9B4013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ls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 stands for list. </a:t>
            </a:r>
          </a:p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Pwd stands for present working directory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10ED200-5843-7840-854E-5EB69DAA33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651DC59-1FEF-5D4D-BEBF-3B80AED12E37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15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DC07AFFE-B3A1-644C-9142-1376748BDD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BF0284A-FD59-8040-8EF9-F9902F629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su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 means switch user. When you have several user account on one machine. </a:t>
            </a:r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0DD7FE63-1011-D046-A5FB-E16BC33626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B5EDBA6-99C7-D14C-8122-F7ABC8EDC7F8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16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13FDBF6-0FCE-634B-A348-5B66E53748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A274BFF-C9F8-BC40-996D-AB3CC262C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ls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 stands for list. </a:t>
            </a:r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9B12E807-4F38-394A-A3D8-BF7FB8B2E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9D8309F-F0BD-FD4A-AD26-DC3B36DBB835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27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D42B0002-95EC-184E-A238-E80D2F4E03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B1D20FD-6638-F14C-AC47-0C5738C62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C3D89BFE-7543-444C-A3B3-8140BD122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5AF767FD-2626-0646-BF04-D79E77C1F463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31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B2228FD-BD9E-D84B-94D8-66D40A6A0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60F509B-0FB4-274F-86AE-106DAFE9B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These are commands related with process management. Kill is used to stop your program.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44DA0AC-EE43-5E4D-ACE9-EED60B862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55854FDE-91EC-6946-91C1-94CD104176EB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32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48060ADE-D31F-F846-B097-5F3BE0BCD3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04C42AD-59A2-E34A-BB62-E056A3A50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These are commands related with process management. Kill is used to stop your program.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D5B6E1E5-106B-9A4B-AE68-20317696E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" pitchFamily="2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7E7309E2-3C7B-F74C-8EC3-FD32FFBE27E3}" type="slidenum">
              <a:rPr kumimoji="0" lang="en-US" altLang="en-US"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34</a:t>
            </a:fld>
            <a:endParaRPr kumimoji="0"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6913B41D-62D2-7844-8701-92DB124AA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0758E45-8914-894D-8495-BCA2BCDD3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 pitchFamily="2" charset="0"/>
                <a:ea typeface="ＭＳ Ｐ明朝" panose="02020600040205080304" pitchFamily="18" charset="-128"/>
              </a:rPr>
              <a:t> tar stands for 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tape archive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. </a:t>
            </a:r>
          </a:p>
          <a:p>
            <a:pPr eaLnBrk="1" hangingPunct="1"/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gzip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 stands for zip is compression algorithm. G stands for that this software is made by GNU project. I don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’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t explain What GNU is here, but you might have heard about 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“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open source project</a:t>
            </a:r>
            <a:r>
              <a:rPr lang="ja-JP" altLang="en-US">
                <a:latin typeface="Arial" panose="020B0604020202020204" pitchFamily="34" charset="0"/>
                <a:ea typeface="ＭＳ Ｐ明朝" panose="02020600040205080304" pitchFamily="18" charset="-128"/>
              </a:rPr>
              <a:t>”</a:t>
            </a:r>
            <a:r>
              <a:rPr lang="en-US" altLang="ja-JP">
                <a:latin typeface="Times" pitchFamily="2" charset="0"/>
                <a:ea typeface="ＭＳ Ｐ明朝" panose="02020600040205080304" pitchFamily="18" charset="-128"/>
              </a:rPr>
              <a:t>. GNU is an open source project to create totally free UNIX. </a:t>
            </a:r>
            <a:endParaRPr lang="en-US" altLang="en-US">
              <a:latin typeface="Times" pitchFamily="2" charset="0"/>
              <a:ea typeface="ＭＳ Ｐ明朝" panose="02020600040205080304" pitchFamily="1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6727449-CFF6-984B-9348-448BA543BD9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FFBCDCA-2C14-0043-86F1-30B2528AB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fr-FR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1469EBEA-4695-584F-9C34-331E30985A3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487D9F53-4D38-5244-A630-2C4C576AB4A2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fr-F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77362435-0DC4-7D42-B4B8-64D566B4081B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fr-F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51C3DD44-AEAE-7247-B45B-4F33A8125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E3294DF3-0DFB-B245-AC55-F7226D719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D2023747-E90C-294B-8514-C51CE9893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fr-F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AB40806F-1EF7-9D4C-94F8-DF21FE3C9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1165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fr-FR" noProof="0"/>
              <a:t>Click to edit Master title style</a:t>
            </a:r>
          </a:p>
        </p:txBody>
      </p:sp>
      <p:sp>
        <p:nvSpPr>
          <p:cNvPr id="41166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fr-FR" noProof="0"/>
              <a:t>Click to edit Master subtitle style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980FF1B-0865-B44D-A8C7-C139C2E7E0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27C5535-2D3C-E94C-841B-F557D33E88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C11F51D-813A-334F-B8D1-42060870DB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ECF5F-C1DC-0840-8B72-F11AEBD7E078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50527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C192959-097A-8743-8447-F7C096538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61B5BE5F-98F6-9445-A2C0-71AFEFC2E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9C85A57-4EEC-7D48-B02D-F597514235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3F766-92AE-604B-B6C3-63E79A17F04E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752455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AD0713C-D072-3449-B0C3-079E7495F2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9916534-0B10-184F-A2F0-2A5AFC4118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D78F723-1618-D142-9DCB-514A4AED5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0CAECE-1A8A-5B46-9EF6-E52DA1DAEDC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60564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14BE9C3-7A9E-9349-A90C-B5B44675CA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940B31C-1901-9143-938F-275C228D41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6742A6-08AF-F04F-8C34-9A1613328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7A9E6-CC7C-CD44-B9D4-CA60FD85E044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402407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B10145C-898A-2441-96B1-02DC630B2A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0ECB60D0-0A63-CA4B-9408-C0C9FAFEA2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6ABE4AB-F06D-724C-B7DE-2C962B50B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9C7926-39E2-A54B-B369-8D4F6DD6FB00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8134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D1F3EA6-DA66-CE44-83C6-5ABEA7B2E5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FBD13DB-9563-424C-8C0B-2BCCD8F1C1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9ED378-A799-D447-AF60-4FB31322F7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7EF53-01F5-AB40-83A1-982370D92490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34706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CBF3C93-2497-8B43-AF51-9EAD6A8B1F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586B538E-A76C-9641-8D51-B2BF1FF44B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24D3C2-1C1B-CF4E-A34A-3FCBE34EA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7D6BF8-B260-1C4D-AAEA-72A1C4ACB561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65520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2E7A5E4-110E-C347-B8AA-B47A19FBA4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AC9DCB2-96DB-A949-810B-5F86E556FD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C665ED6-1623-9E47-91BB-9B9744601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AA6C45-352A-694A-BA3F-4ED117BCF6D7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80915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AB05529-E429-594E-BE86-5310B06A2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AF8BB31-C9DA-C443-93AA-ACB87DF2AC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42597BE-BAE0-D849-A4F0-2195487859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B6C117-D191-F34C-B373-A728B87D48B6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36042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EA31A18-986E-1E40-AB83-3E5B9174A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6A23036-63C6-6841-A429-31165F2EDE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EA2D882-E7F1-A94F-9E3C-4AD1C7B69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B88BB-08BD-EF47-8081-21EFE6193A33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30266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05EC5FD-1656-3F40-8033-C61EC826DE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E91723C-0EC3-024E-94FB-2AD3AA3492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5CCB222-1D08-944D-82D2-0DAD3FC6EF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43448A-0DD6-4A4A-B988-6CD915F9E4D1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421789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7AFD426-7665-9245-826B-F0607B915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637830E-B1F9-0F4B-A950-3B4A44090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ABA7488-FF7F-134E-B49C-DC8ABC775D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4F2951-26F8-7D47-977E-48BAE29F5953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6656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CED97B9-B0E1-AE4A-82B9-B0FF71484F6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>
              <a:extLst>
                <a:ext uri="{FF2B5EF4-FFF2-40B4-BE49-F238E27FC236}">
                  <a16:creationId xmlns:a16="http://schemas.microsoft.com/office/drawing/2014/main" id="{D82E3F9D-7191-144F-A237-106B89FC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fr-FR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>
              <a:extLst>
                <a:ext uri="{FF2B5EF4-FFF2-40B4-BE49-F238E27FC236}">
                  <a16:creationId xmlns:a16="http://schemas.microsoft.com/office/drawing/2014/main" id="{4B724A78-F9ED-0843-A1B7-CF68A0AFF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>
                <a:extLst>
                  <a:ext uri="{FF2B5EF4-FFF2-40B4-BE49-F238E27FC236}">
                    <a16:creationId xmlns:a16="http://schemas.microsoft.com/office/drawing/2014/main" id="{425F8A03-55CF-DA40-B00F-327459201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fr-F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>
                <a:extLst>
                  <a:ext uri="{FF2B5EF4-FFF2-40B4-BE49-F238E27FC236}">
                    <a16:creationId xmlns:a16="http://schemas.microsoft.com/office/drawing/2014/main" id="{81F99563-A85F-8F4D-82E3-1A07FB634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>
            <a:extLst>
              <a:ext uri="{FF2B5EF4-FFF2-40B4-BE49-F238E27FC236}">
                <a16:creationId xmlns:a16="http://schemas.microsoft.com/office/drawing/2014/main" id="{91E37862-C4A8-AF44-8008-4D5E05BD7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3E2194E8-03FF-E643-8F88-4A21AE601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Click to edit Master text styles</a:t>
            </a:r>
          </a:p>
          <a:p>
            <a:pPr lvl="1"/>
            <a:r>
              <a:rPr lang="fr-FR" altLang="en-US"/>
              <a:t>Second level</a:t>
            </a:r>
          </a:p>
          <a:p>
            <a:pPr lvl="2"/>
            <a:r>
              <a:rPr lang="fr-FR" altLang="en-US"/>
              <a:t>Third level</a:t>
            </a:r>
          </a:p>
          <a:p>
            <a:pPr lvl="3"/>
            <a:r>
              <a:rPr lang="fr-FR" altLang="en-US"/>
              <a:t>Fourth level</a:t>
            </a:r>
          </a:p>
          <a:p>
            <a:pPr lvl="4"/>
            <a:r>
              <a:rPr lang="fr-FR" altLang="en-US"/>
              <a:t>Fifth level</a:t>
            </a:r>
          </a:p>
        </p:txBody>
      </p:sp>
      <p:sp>
        <p:nvSpPr>
          <p:cNvPr id="410633" name="Rectangle 9">
            <a:extLst>
              <a:ext uri="{FF2B5EF4-FFF2-40B4-BE49-F238E27FC236}">
                <a16:creationId xmlns:a16="http://schemas.microsoft.com/office/drawing/2014/main" id="{5EDE0E46-E169-D449-BF42-B5ED94F966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634" name="Rectangle 10">
            <a:extLst>
              <a:ext uri="{FF2B5EF4-FFF2-40B4-BE49-F238E27FC236}">
                <a16:creationId xmlns:a16="http://schemas.microsoft.com/office/drawing/2014/main" id="{04467123-D3A5-6F4D-A6DF-8E70083196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635" name="Rectangle 11">
            <a:extLst>
              <a:ext uri="{FF2B5EF4-FFF2-40B4-BE49-F238E27FC236}">
                <a16:creationId xmlns:a16="http://schemas.microsoft.com/office/drawing/2014/main" id="{A50A9E65-5FFC-AA46-8E2C-E68AC5E571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C4354890-DA39-B748-AAEB-897DECFB7D22}" type="slidenum">
              <a:rPr lang="fr-FR" altLang="en-US"/>
              <a:pPr/>
              <a:t>‹#›</a:t>
            </a:fld>
            <a:endParaRPr lang="fr-FR" altLang="en-US"/>
          </a:p>
        </p:txBody>
      </p:sp>
      <p:sp>
        <p:nvSpPr>
          <p:cNvPr id="1032" name="Line 12">
            <a:extLst>
              <a:ext uri="{FF2B5EF4-FFF2-40B4-BE49-F238E27FC236}">
                <a16:creationId xmlns:a16="http://schemas.microsoft.com/office/drawing/2014/main" id="{3482EE99-9494-E14D-BEF7-F9D6A9053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CA11D4B-56B8-2C4F-B3A6-0B5A13020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Outline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9B97EEEB-30FD-D043-957D-5F69094E66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7239000" cy="4530725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Overview of Unix System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Basic Commands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Relative &amp; Absolute Path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en-US" sz="2400" dirty="0"/>
              <a:t>Redirect, Append and Pipe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en-US" sz="2400" dirty="0"/>
              <a:t>Wildcards * ? [ ]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Permission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Process Management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Install Software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Text Editor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ja-JP" sz="2400" dirty="0"/>
              <a:t>Foreground and Background Jobs</a:t>
            </a:r>
          </a:p>
          <a:p>
            <a:pPr marL="533400" indent="-533400" eaLnBrk="1" hangingPunct="1">
              <a:buFont typeface="Wingdings" pitchFamily="2" charset="2"/>
              <a:buAutoNum type="arabicPeriod"/>
            </a:pPr>
            <a:endParaRPr lang="en-US" altLang="ja-JP" sz="2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2C24812-EC79-6D4D-99E9-C18AFC3E2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Overview of Unix System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53709C5E-B684-DD48-8A78-098DDFF97A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752600"/>
            <a:ext cx="48768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 b="1" u="sng" dirty="0"/>
              <a:t>Kernel &amp; Shell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Unix/Linux is operating system (OS).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Unix system is described as kernel &amp; shell.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Kernel is a main program of Unix system. it controls hard wares, CPU, memory, hard disk, network card etc. 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Shell is an interface between user and kernel.  Shell interprets your input as commands and pass them to kernel. </a:t>
            </a:r>
          </a:p>
        </p:txBody>
      </p:sp>
      <p:sp>
        <p:nvSpPr>
          <p:cNvPr id="18435" name="Oval 6">
            <a:extLst>
              <a:ext uri="{FF2B5EF4-FFF2-40B4-BE49-F238E27FC236}">
                <a16:creationId xmlns:a16="http://schemas.microsoft.com/office/drawing/2014/main" id="{9B026819-BDF0-F243-B9B3-AFEAD453F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1828800" cy="18288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kumimoji="1" lang="fr-FR" altLang="en-US"/>
          </a:p>
        </p:txBody>
      </p:sp>
      <p:sp>
        <p:nvSpPr>
          <p:cNvPr id="18436" name="Oval 7">
            <a:extLst>
              <a:ext uri="{FF2B5EF4-FFF2-40B4-BE49-F238E27FC236}">
                <a16:creationId xmlns:a16="http://schemas.microsoft.com/office/drawing/2014/main" id="{655694DC-91B7-EF4E-995B-4A679366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343400"/>
            <a:ext cx="1066800" cy="10668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kumimoji="1" lang="en-US" altLang="en-US"/>
              <a:t>Kernel</a:t>
            </a:r>
          </a:p>
        </p:txBody>
      </p:sp>
      <p:sp>
        <p:nvSpPr>
          <p:cNvPr id="18437" name="Text Box 11">
            <a:extLst>
              <a:ext uri="{FF2B5EF4-FFF2-40B4-BE49-F238E27FC236}">
                <a16:creationId xmlns:a16="http://schemas.microsoft.com/office/drawing/2014/main" id="{2A4FB50D-16B8-994B-9CCF-B12647432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03860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1" lang="en-US" altLang="en-US"/>
              <a:t>Shell</a:t>
            </a:r>
          </a:p>
        </p:txBody>
      </p:sp>
      <p:sp>
        <p:nvSpPr>
          <p:cNvPr id="18438" name="Text Box 13">
            <a:extLst>
              <a:ext uri="{FF2B5EF4-FFF2-40B4-BE49-F238E27FC236}">
                <a16:creationId xmlns:a16="http://schemas.microsoft.com/office/drawing/2014/main" id="{7F7D2294-0003-0A49-9BF9-774D5E797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971800"/>
            <a:ext cx="6762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1" lang="en-US" altLang="en-US"/>
              <a:t>User</a:t>
            </a:r>
          </a:p>
        </p:txBody>
      </p:sp>
      <p:sp>
        <p:nvSpPr>
          <p:cNvPr id="18439" name="Text Box 16">
            <a:extLst>
              <a:ext uri="{FF2B5EF4-FFF2-40B4-BE49-F238E27FC236}">
                <a16:creationId xmlns:a16="http://schemas.microsoft.com/office/drawing/2014/main" id="{728B097F-9D15-904E-A5D3-79A28740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29000"/>
            <a:ext cx="569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1" lang="en-US" altLang="en-US" sz="1400"/>
              <a:t>input</a:t>
            </a:r>
          </a:p>
        </p:txBody>
      </p:sp>
      <p:sp>
        <p:nvSpPr>
          <p:cNvPr id="18440" name="Line 19">
            <a:extLst>
              <a:ext uri="{FF2B5EF4-FFF2-40B4-BE49-F238E27FC236}">
                <a16:creationId xmlns:a16="http://schemas.microsoft.com/office/drawing/2014/main" id="{34AB8561-6C24-2F42-8C6F-C55AB8053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3528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00F555B-564F-584F-9633-FACC81B03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F453D48-9B3A-D246-9AC1-445CCCF4BFE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39639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 dirty="0"/>
              <a:t>Multi-user &amp; Multi-process</a:t>
            </a:r>
            <a:endParaRPr lang="en-US" altLang="ja-JP" sz="2000" dirty="0"/>
          </a:p>
          <a:p>
            <a:pPr eaLnBrk="1" hangingPunct="1"/>
            <a:r>
              <a:rPr lang="en-US" altLang="ja-JP" sz="2000" dirty="0"/>
              <a:t>Many people can use one machine at the same time.</a:t>
            </a:r>
          </a:p>
          <a:p>
            <a:pPr eaLnBrk="1" hangingPunct="1"/>
            <a:endParaRPr lang="en-US" altLang="ja-JP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 dirty="0"/>
              <a:t>File &amp; Process</a:t>
            </a:r>
            <a:endParaRPr lang="en-US" altLang="ja-JP" sz="2000" dirty="0"/>
          </a:p>
          <a:p>
            <a:pPr eaLnBrk="1" hangingPunct="1"/>
            <a:r>
              <a:rPr lang="en-US" altLang="ja-JP" sz="2000" dirty="0"/>
              <a:t>Data, directory, process, hard disk…</a:t>
            </a:r>
            <a:r>
              <a:rPr lang="en-US" altLang="ja-JP" sz="2000" dirty="0" err="1"/>
              <a:t>etc</a:t>
            </a:r>
            <a:r>
              <a:rPr lang="en-US" altLang="ja-JP" sz="2000" dirty="0"/>
              <a:t> (almost everything) are expressed as a file. </a:t>
            </a:r>
          </a:p>
          <a:p>
            <a:pPr eaLnBrk="1" hangingPunct="1"/>
            <a:r>
              <a:rPr lang="en-US" altLang="ja-JP" sz="2000" dirty="0"/>
              <a:t>A “Process” is a running program identified by a unique id (PID).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18BFE84-AC61-0F46-BE24-35DCE8362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B5838F6-724C-664E-A659-8C114B0600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43075"/>
            <a:ext cx="7124700" cy="3895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b="1" u="sng" dirty="0"/>
              <a:t>Directory Structure</a:t>
            </a:r>
            <a:endParaRPr lang="en-US" altLang="ja-JP" sz="2400" b="1" dirty="0"/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Files are put in a </a:t>
            </a:r>
            <a:r>
              <a:rPr lang="en-US" altLang="ja-JP" sz="2000" u="sng" dirty="0"/>
              <a:t>directory</a:t>
            </a:r>
            <a:r>
              <a:rPr lang="en-US" altLang="ja-JP" sz="20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All directories are in a hierarchical structure (tree structure).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User can put and remove any directories on the tree.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Top directory is “/”, which is called </a:t>
            </a:r>
            <a:r>
              <a:rPr lang="en-US" altLang="ja-JP" sz="2000" u="sng" dirty="0"/>
              <a:t>slash</a:t>
            </a:r>
            <a:r>
              <a:rPr lang="en-US" altLang="ja-JP" sz="2000" dirty="0"/>
              <a:t> or </a:t>
            </a:r>
            <a:r>
              <a:rPr lang="en-US" altLang="ja-JP" sz="2000" u="sng" dirty="0"/>
              <a:t>root</a:t>
            </a:r>
            <a:r>
              <a:rPr lang="en-US" altLang="ja-JP" sz="20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Users have the own directory. (home directory)</a:t>
            </a:r>
          </a:p>
          <a:p>
            <a:pPr eaLnBrk="1" hangingPunct="1">
              <a:lnSpc>
                <a:spcPct val="90000"/>
              </a:lnSpc>
            </a:pPr>
            <a:endParaRPr lang="en-US" altLang="ja-JP" sz="2000" b="1" u="sng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666DE0B-A0CD-1046-90B5-85F5A232F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22201A1-C015-434B-9DA5-70739A6E17F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43075"/>
            <a:ext cx="7124700" cy="3895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b="1" u="sng"/>
              <a:t>Directory Structure</a:t>
            </a:r>
            <a:endParaRPr lang="en-US" altLang="ja-JP" sz="2400" b="1"/>
          </a:p>
        </p:txBody>
      </p:sp>
      <p:pic>
        <p:nvPicPr>
          <p:cNvPr id="139274" name="Picture 10" descr="Drawing1">
            <a:extLst>
              <a:ext uri="{FF2B5EF4-FFF2-40B4-BE49-F238E27FC236}">
                <a16:creationId xmlns:a16="http://schemas.microsoft.com/office/drawing/2014/main" id="{15156282-E209-E949-90E1-815BF25E34D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303462"/>
            <a:ext cx="8093805" cy="333533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4545259-7203-304E-A38A-3A8749077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F5072DC-6C0F-1D47-B3C7-A33BCB93DA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6689725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400" b="1" u="sng" dirty="0"/>
              <a:t>Important Directories</a:t>
            </a:r>
          </a:p>
          <a:p>
            <a:pPr eaLnBrk="1" hangingPunct="1"/>
            <a:r>
              <a:rPr lang="en-US" altLang="ja-JP" sz="1800" dirty="0"/>
              <a:t>/bin     This contains files that are essential for correct operation of the system. These are available for use by all users.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800" dirty="0"/>
          </a:p>
          <a:p>
            <a:pPr eaLnBrk="1" hangingPunct="1"/>
            <a:r>
              <a:rPr lang="en-US" altLang="ja-JP" sz="1800" dirty="0"/>
              <a:t>/home This is where user home directories are stored. </a:t>
            </a:r>
          </a:p>
          <a:p>
            <a:pPr eaLnBrk="1" hangingPunct="1"/>
            <a:endParaRPr lang="en-US" altLang="ja-JP" sz="1800" dirty="0"/>
          </a:p>
          <a:p>
            <a:pPr eaLnBrk="1" hangingPunct="1"/>
            <a:r>
              <a:rPr lang="en-US" altLang="ja-JP" sz="1800" dirty="0"/>
              <a:t>/var	 This directory is used to store files which change frequently and must be available to be written to.</a:t>
            </a:r>
          </a:p>
          <a:p>
            <a:pPr eaLnBrk="1" hangingPunct="1"/>
            <a:endParaRPr lang="en-US" altLang="ja-JP" sz="1800" dirty="0"/>
          </a:p>
          <a:p>
            <a:pPr eaLnBrk="1" hangingPunct="1"/>
            <a:r>
              <a:rPr lang="en-US" altLang="ja-JP" sz="1800" dirty="0"/>
              <a:t>/</a:t>
            </a:r>
            <a:r>
              <a:rPr lang="en-US" altLang="ja-JP" sz="1800" dirty="0" err="1"/>
              <a:t>etc</a:t>
            </a:r>
            <a:r>
              <a:rPr lang="en-US" altLang="ja-JP" sz="1800" dirty="0"/>
              <a:t> 	 Various system configuration files are stored here as are all global startup variables for all systems.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7262F1D2-D23E-844D-8DB2-18B9A2C49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8836D918-D8B1-B047-A3E9-7B775CD22DD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6554787" cy="3733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b="1" u="sng" dirty="0"/>
              <a:t>Important Directories</a:t>
            </a:r>
            <a:endParaRPr lang="en-US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/dev	 This contains various devices as files, e.g., hard 	 	disk, CD-ROM drive, etc. 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/</a:t>
            </a:r>
            <a:r>
              <a:rPr lang="en-US" altLang="ja-JP" sz="1800" dirty="0" err="1"/>
              <a:t>sbin</a:t>
            </a:r>
            <a:r>
              <a:rPr lang="en-US" altLang="ja-JP" sz="1800" dirty="0"/>
              <a:t>	  Binaries which are only expected to be used by 	  the </a:t>
            </a:r>
            <a:r>
              <a:rPr lang="en-US" altLang="ja-JP" sz="1800" u="sng" dirty="0"/>
              <a:t>super user</a:t>
            </a:r>
            <a:r>
              <a:rPr lang="en-US" altLang="ja-JP" sz="1800" dirty="0"/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/</a:t>
            </a:r>
            <a:r>
              <a:rPr lang="en-US" altLang="ja-JP" sz="1800" dirty="0" err="1"/>
              <a:t>tmp</a:t>
            </a:r>
            <a:r>
              <a:rPr lang="en-US" altLang="ja-JP" sz="1800" dirty="0"/>
              <a:t>     Temporary files.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endParaRPr lang="en-US" altLang="ja-JP" sz="20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A544D7EC-2450-2747-B0E9-DB82335D2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</a:t>
            </a:r>
          </a:p>
        </p:txBody>
      </p:sp>
      <p:sp>
        <p:nvSpPr>
          <p:cNvPr id="71683" name="TextBox 3">
            <a:extLst>
              <a:ext uri="{FF2B5EF4-FFF2-40B4-BE49-F238E27FC236}">
                <a16:creationId xmlns:a16="http://schemas.microsoft.com/office/drawing/2014/main" id="{DBF8D4FE-6C06-8142-9567-BE5929F66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510" y="1981200"/>
            <a:ext cx="13340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$set | more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DD85EC-86DD-BB4C-A8FC-527E9529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43932"/>
            <a:ext cx="7086600" cy="4009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F05B9AC6-2196-D84F-BCFC-0DEF6DC45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pic>
        <p:nvPicPr>
          <p:cNvPr id="72706" name="Picture 2">
            <a:extLst>
              <a:ext uri="{FF2B5EF4-FFF2-40B4-BE49-F238E27FC236}">
                <a16:creationId xmlns:a16="http://schemas.microsoft.com/office/drawing/2014/main" id="{A0C2AEDD-4B23-7844-A213-B768F46B8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088188" cy="450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199573-9D11-CB49-A64B-EB6C81BEA010}"/>
              </a:ext>
            </a:extLst>
          </p:cNvPr>
          <p:cNvSpPr/>
          <p:nvPr/>
        </p:nvSpPr>
        <p:spPr>
          <a:xfrm>
            <a:off x="914400" y="5562600"/>
            <a:ext cx="7239000" cy="696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634A7029-A046-C943-BE75-E08E00F04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FILES EXECUTING ON STARTUP</a:t>
            </a:r>
          </a:p>
        </p:txBody>
      </p:sp>
      <p:pic>
        <p:nvPicPr>
          <p:cNvPr id="73730" name="Picture 2">
            <a:extLst>
              <a:ext uri="{FF2B5EF4-FFF2-40B4-BE49-F238E27FC236}">
                <a16:creationId xmlns:a16="http://schemas.microsoft.com/office/drawing/2014/main" id="{06C0EB3B-7F4A-CB4B-8203-05EDF225C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769143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DDE55E-FE8C-AF43-BDE1-CBF83F4F44FD}"/>
              </a:ext>
            </a:extLst>
          </p:cNvPr>
          <p:cNvSpPr txBox="1"/>
          <p:nvPr/>
        </p:nvSpPr>
        <p:spPr>
          <a:xfrm>
            <a:off x="1295400" y="4876800"/>
            <a:ext cx="500239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shell are you in? Type this at your prompt</a:t>
            </a:r>
          </a:p>
          <a:p>
            <a:endParaRPr lang="en-US" dirty="0"/>
          </a:p>
          <a:p>
            <a:r>
              <a:rPr lang="en-US" dirty="0"/>
              <a:t>echo $SHELL</a:t>
            </a:r>
          </a:p>
          <a:p>
            <a:r>
              <a:rPr lang="en-US" dirty="0"/>
              <a:t>echo $PS1</a:t>
            </a:r>
          </a:p>
          <a:p>
            <a:endParaRPr lang="en-US" dirty="0"/>
          </a:p>
          <a:p>
            <a:r>
              <a:rPr lang="en-US" dirty="0"/>
              <a:t>Customizing your prompt is FUN!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B655C6A-5CFD-C340-9F25-DA7EC66D5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Unix Overview (cont.)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AA51CC9A-3EA1-B746-BDD8-A669565CFC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00200"/>
            <a:ext cx="7467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800" b="1" u="sng" dirty="0"/>
              <a:t>Normal user and Super user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In Unix system, there is one special user for administrator, which can do anything.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This special user is called </a:t>
            </a:r>
            <a:r>
              <a:rPr lang="en-US" altLang="ja-JP" sz="1800" u="sng" dirty="0"/>
              <a:t>root</a:t>
            </a:r>
            <a:r>
              <a:rPr lang="en-US" altLang="ja-JP" sz="1800" dirty="0"/>
              <a:t> or </a:t>
            </a:r>
            <a:r>
              <a:rPr lang="en-US" altLang="ja-JP" sz="1800" u="sng" dirty="0"/>
              <a:t>superuser</a:t>
            </a:r>
            <a:r>
              <a:rPr lang="en-US" altLang="ja-JP" sz="1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b="1" u="sng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800" b="1" u="sng" dirty="0"/>
              <a:t>Case Sensitivity</a:t>
            </a:r>
            <a:endParaRPr lang="en-US" altLang="ja-JP" sz="18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Unix is case-sensitive.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 err="1"/>
              <a:t>MYFILE.doc</a:t>
            </a:r>
            <a:r>
              <a:rPr lang="en-US" altLang="ja-JP" sz="1800" dirty="0"/>
              <a:t>, </a:t>
            </a:r>
            <a:r>
              <a:rPr lang="en-US" altLang="ja-JP" sz="1800" dirty="0" err="1"/>
              <a:t>Myfile.doc</a:t>
            </a:r>
            <a:r>
              <a:rPr lang="en-US" altLang="ja-JP" sz="1800" dirty="0"/>
              <a:t>, </a:t>
            </a:r>
            <a:r>
              <a:rPr lang="en-US" altLang="ja-JP" sz="1800" dirty="0" err="1"/>
              <a:t>mYfiLe.Doc</a:t>
            </a:r>
            <a:r>
              <a:rPr lang="en-US" altLang="ja-JP" sz="1800" dirty="0"/>
              <a:t> are different.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800" b="1" u="sng" dirty="0"/>
              <a:t>Online Manual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/>
              <a:t>Unix has well-written online manuals.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29EA4DC9-4B3F-1048-82B4-F01D451ED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Basic Commands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2652059F-E921-0442-B6A7-2DF71BA2D1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 dirty="0"/>
              <a:t>How to run commands</a:t>
            </a:r>
          </a:p>
          <a:p>
            <a:pPr eaLnBrk="1" hangingPunct="1"/>
            <a:r>
              <a:rPr lang="fr-CH" altLang="en-US" sz="1600" b="1" dirty="0"/>
              <a:t>Finder =&gt; Application =&gt; Utilitaires =&gt; Terminal</a:t>
            </a:r>
            <a:endParaRPr lang="en-US" altLang="ja-JP" sz="1800" b="1" dirty="0"/>
          </a:p>
          <a:p>
            <a:pPr eaLnBrk="1" hangingPunct="1"/>
            <a:r>
              <a:rPr lang="en-US" altLang="ja-JP" sz="1800" dirty="0"/>
              <a:t>When you log on Unix machine, you will see,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 dirty="0"/>
              <a:t>[someone]$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800" dirty="0"/>
          </a:p>
          <a:p>
            <a:pPr eaLnBrk="1" hangingPunct="1"/>
            <a:r>
              <a:rPr lang="en-US" altLang="ja-JP" sz="1800" dirty="0"/>
              <a:t>One command consists of three parts, i.e. command name, options, arguments. 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 dirty="0"/>
              <a:t>Example)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400" dirty="0"/>
              <a:t>[someone~]$ command-name  </a:t>
            </a:r>
            <a:r>
              <a:rPr lang="en-US" altLang="ja-JP" sz="1400" dirty="0" err="1"/>
              <a:t>optionA</a:t>
            </a:r>
            <a:r>
              <a:rPr lang="en-US" altLang="ja-JP" sz="1400" dirty="0"/>
              <a:t> </a:t>
            </a:r>
            <a:r>
              <a:rPr lang="en-US" altLang="ja-JP" sz="1400" dirty="0" err="1"/>
              <a:t>optionB</a:t>
            </a:r>
            <a:r>
              <a:rPr lang="en-US" altLang="ja-JP" sz="1400" dirty="0"/>
              <a:t>  argument1  argument2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8D97210C-AD31-8F45-B9C8-9534CABF5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Basic Commands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E90E638B-E13D-D643-B662-552AD5B52B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 dirty="0"/>
              <a:t>How to run commands</a:t>
            </a:r>
          </a:p>
          <a:p>
            <a:pPr eaLnBrk="1" hangingPunct="1"/>
            <a:r>
              <a:rPr lang="en-US" altLang="ja-JP" sz="1800" dirty="0"/>
              <a:t>Between command name, options and arguments, </a:t>
            </a:r>
            <a:r>
              <a:rPr lang="en-US" altLang="ja-JP" sz="1800" u="sng" dirty="0"/>
              <a:t>space</a:t>
            </a:r>
            <a:r>
              <a:rPr lang="en-US" altLang="ja-JP" sz="1800" dirty="0"/>
              <a:t> is necessary. </a:t>
            </a:r>
          </a:p>
          <a:p>
            <a:pPr eaLnBrk="1" hangingPunct="1"/>
            <a:endParaRPr lang="en-US" altLang="ja-JP" sz="1800" dirty="0"/>
          </a:p>
          <a:p>
            <a:pPr eaLnBrk="1" hangingPunct="1"/>
            <a:r>
              <a:rPr lang="en-US" altLang="ja-JP" sz="1800" dirty="0" err="1"/>
              <a:t>Opitions</a:t>
            </a:r>
            <a:r>
              <a:rPr lang="en-US" altLang="ja-JP" sz="1800" dirty="0"/>
              <a:t> always start with </a:t>
            </a:r>
            <a:r>
              <a:rPr lang="en-US" altLang="ja-JP" sz="1800" dirty="0">
                <a:latin typeface="Verdana" panose="020B0604030504040204" pitchFamily="34" charset="0"/>
              </a:rPr>
              <a:t>“</a:t>
            </a:r>
            <a:r>
              <a:rPr lang="en-US" altLang="ja-JP" sz="1800" dirty="0"/>
              <a:t>-</a:t>
            </a:r>
            <a:r>
              <a:rPr lang="en-US" altLang="ja-JP" sz="1800" dirty="0">
                <a:latin typeface="Verdana" panose="020B0604030504040204" pitchFamily="34" charset="0"/>
              </a:rPr>
              <a:t>”</a:t>
            </a:r>
            <a:endParaRPr lang="en-US" altLang="ja-JP" sz="1800" dirty="0"/>
          </a:p>
          <a:p>
            <a:pPr eaLnBrk="1" hangingPunct="1"/>
            <a:endParaRPr lang="en-US" altLang="ja-JP" sz="1800" dirty="0"/>
          </a:p>
          <a:p>
            <a:pPr eaLnBrk="1" hangingPunct="1"/>
            <a:r>
              <a:rPr lang="en-US" altLang="ja-JP" sz="1800" dirty="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 dirty="0"/>
              <a:t>	cd  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 dirty="0"/>
              <a:t>	ls  </a:t>
            </a:r>
            <a:r>
              <a:rPr lang="en-US" altLang="ja-JP" sz="1800" dirty="0">
                <a:latin typeface="Verdana" panose="020B0604030504040204" pitchFamily="34" charset="0"/>
              </a:rPr>
              <a:t>–</a:t>
            </a:r>
            <a:r>
              <a:rPr lang="en-US" altLang="ja-JP" sz="1800" dirty="0"/>
              <a:t>l  .</a:t>
            </a:r>
            <a:r>
              <a:rPr lang="en-US" altLang="ja-JP" sz="1800" dirty="0" err="1"/>
              <a:t>bashrc</a:t>
            </a:r>
            <a:endParaRPr lang="en-US" altLang="ja-JP" sz="1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 dirty="0"/>
              <a:t>     mv  </a:t>
            </a:r>
            <a:r>
              <a:rPr lang="en-US" altLang="ja-JP" sz="1800" dirty="0" err="1"/>
              <a:t>fileA</a:t>
            </a:r>
            <a:r>
              <a:rPr lang="en-US" altLang="ja-JP" sz="1800" dirty="0"/>
              <a:t>  </a:t>
            </a:r>
            <a:r>
              <a:rPr lang="en-US" altLang="ja-JP" sz="1800" dirty="0" err="1"/>
              <a:t>fileB</a:t>
            </a:r>
            <a:endParaRPr lang="en-US" altLang="ja-JP" sz="18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16EB516-20F0-924D-9863-064B2E8D8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Basic Commands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B9088550-C9F8-BF42-956F-CF8E417492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b="1" u="sng" dirty="0"/>
              <a:t>Commands</a:t>
            </a:r>
            <a:endParaRPr lang="en-US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ls			show files in current position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cd			change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cp			copy file or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mv			move file or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rm			remove file or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</a:t>
            </a:r>
            <a:r>
              <a:rPr lang="en-US" altLang="ja-JP" sz="2000" dirty="0" err="1"/>
              <a:t>pwd</a:t>
            </a:r>
            <a:r>
              <a:rPr lang="en-US" altLang="ja-JP" sz="2000" dirty="0"/>
              <a:t> 		show current position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</a:t>
            </a:r>
            <a:r>
              <a:rPr lang="en-US" altLang="ja-JP" sz="2000" dirty="0" err="1"/>
              <a:t>mkdir</a:t>
            </a:r>
            <a:r>
              <a:rPr lang="en-US" altLang="ja-JP" sz="2000" dirty="0"/>
              <a:t>		create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</a:t>
            </a:r>
            <a:r>
              <a:rPr lang="en-US" altLang="ja-JP" sz="2000" dirty="0" err="1"/>
              <a:t>rmdir</a:t>
            </a:r>
            <a:r>
              <a:rPr lang="en-US" altLang="ja-JP" sz="2000" dirty="0"/>
              <a:t>		remove directory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less, more, cat	display file contents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dirty="0"/>
              <a:t> man			display online manual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B6097DDF-29EB-7D48-AD65-819384BD9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Basic Commands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CF86F6A0-7B53-6A48-925F-D05E6EF2A2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400" b="1" u="sng" dirty="0"/>
              <a:t>Commands</a:t>
            </a:r>
            <a:endParaRPr lang="en-US" altLang="ja-JP" sz="2400" dirty="0"/>
          </a:p>
          <a:p>
            <a:pPr eaLnBrk="1" hangingPunct="1"/>
            <a:r>
              <a:rPr lang="en-US" altLang="ja-JP" sz="2000" dirty="0"/>
              <a:t> </a:t>
            </a:r>
            <a:r>
              <a:rPr lang="en-US" altLang="ja-JP" sz="2000" dirty="0" err="1"/>
              <a:t>su</a:t>
            </a:r>
            <a:r>
              <a:rPr lang="en-US" altLang="ja-JP" sz="2000" dirty="0"/>
              <a:t>		</a:t>
            </a:r>
            <a:r>
              <a:rPr lang="en-US" altLang="ja-JP" sz="2000"/>
              <a:t>	super </a:t>
            </a:r>
            <a:r>
              <a:rPr lang="en-US" altLang="ja-JP" sz="2000" dirty="0"/>
              <a:t>user</a:t>
            </a:r>
          </a:p>
          <a:p>
            <a:pPr eaLnBrk="1" hangingPunct="1"/>
            <a:r>
              <a:rPr lang="en-US" altLang="ja-JP" sz="2000" dirty="0"/>
              <a:t> passwd 		change password</a:t>
            </a:r>
          </a:p>
          <a:p>
            <a:pPr eaLnBrk="1" hangingPunct="1"/>
            <a:r>
              <a:rPr lang="en-US" altLang="ja-JP" sz="2000" dirty="0"/>
              <a:t> </a:t>
            </a:r>
            <a:r>
              <a:rPr lang="en-US" altLang="ja-JP" sz="2000" dirty="0" err="1"/>
              <a:t>useradd</a:t>
            </a:r>
            <a:r>
              <a:rPr lang="en-US" altLang="ja-JP" sz="2000" dirty="0"/>
              <a:t>		create new user account</a:t>
            </a:r>
          </a:p>
          <a:p>
            <a:pPr eaLnBrk="1" hangingPunct="1"/>
            <a:r>
              <a:rPr lang="en-US" altLang="ja-JP" sz="2000" dirty="0"/>
              <a:t> </a:t>
            </a:r>
            <a:r>
              <a:rPr lang="en-US" altLang="ja-JP" sz="2000" dirty="0" err="1"/>
              <a:t>userdel</a:t>
            </a:r>
            <a:r>
              <a:rPr lang="en-US" altLang="ja-JP" sz="2000" dirty="0"/>
              <a:t>		delete user account</a:t>
            </a:r>
          </a:p>
          <a:p>
            <a:pPr eaLnBrk="1" hangingPunct="1"/>
            <a:r>
              <a:rPr lang="en-US" altLang="ja-JP" sz="2000" dirty="0"/>
              <a:t> mount		mount file system</a:t>
            </a:r>
          </a:p>
          <a:p>
            <a:pPr eaLnBrk="1" hangingPunct="1"/>
            <a:r>
              <a:rPr lang="en-US" altLang="ja-JP" sz="2000" dirty="0"/>
              <a:t> </a:t>
            </a:r>
            <a:r>
              <a:rPr lang="en-US" altLang="ja-JP" sz="2000" dirty="0" err="1"/>
              <a:t>umount</a:t>
            </a:r>
            <a:r>
              <a:rPr lang="en-US" altLang="ja-JP" sz="2000" dirty="0"/>
              <a:t>		unmount file system</a:t>
            </a:r>
          </a:p>
          <a:p>
            <a:pPr eaLnBrk="1" hangingPunct="1"/>
            <a:r>
              <a:rPr lang="en-US" altLang="ja-JP" sz="2000" dirty="0"/>
              <a:t> df			show disk space usage</a:t>
            </a:r>
          </a:p>
          <a:p>
            <a:pPr eaLnBrk="1" hangingPunct="1"/>
            <a:r>
              <a:rPr lang="en-US" altLang="ja-JP" sz="2000" dirty="0"/>
              <a:t> shutdown		reboot or turn off machine	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48E64A6E-BA66-CC4A-A8CD-3E8DBFA4A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Basic Commands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37273140-27DE-3A49-97B9-07A43EB5AF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905000"/>
            <a:ext cx="32766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1600"/>
              <a:t>1. Type following command in your directory.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</a:t>
            </a:r>
            <a:r>
              <a:rPr lang="en-US" altLang="ja-JP" sz="1200">
                <a:solidFill>
                  <a:srgbClr val="3333FF"/>
                </a:solidFill>
              </a:rPr>
              <a:t>ls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</a:t>
            </a:r>
            <a:r>
              <a:rPr lang="en-US" altLang="ja-JP" sz="1200">
                <a:solidFill>
                  <a:srgbClr val="3333FF"/>
                </a:solidFill>
                <a:latin typeface="Verdana" panose="020B0604030504040204" pitchFamily="34" charset="0"/>
              </a:rPr>
              <a:t>–</a:t>
            </a:r>
            <a:r>
              <a:rPr lang="en-US" altLang="ja-JP" sz="1200">
                <a:solidFill>
                  <a:srgbClr val="3333FF"/>
                </a:solidFill>
              </a:rPr>
              <a:t>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</a:t>
            </a:r>
            <a:r>
              <a:rPr lang="en-US" altLang="ja-JP" sz="1200">
                <a:solidFill>
                  <a:srgbClr val="3333FF"/>
                </a:solidFill>
                <a:latin typeface="Verdana" panose="020B0604030504040204" pitchFamily="34" charset="0"/>
              </a:rPr>
              <a:t>–</a:t>
            </a:r>
            <a:r>
              <a:rPr lang="en-US" altLang="ja-JP" sz="1200">
                <a:solidFill>
                  <a:srgbClr val="3333FF"/>
                </a:solidFill>
              </a:rPr>
              <a:t>la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   	ls -Fa</a:t>
            </a:r>
            <a:r>
              <a:rPr lang="en-US" altLang="ja-JP" sz="1200"/>
              <a:t>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/>
              <a:t>2. </a:t>
            </a:r>
            <a:r>
              <a:rPr lang="en-US" altLang="ja-JP" sz="1400"/>
              <a:t>Make a directory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</a:t>
            </a:r>
            <a:r>
              <a:rPr lang="en-US" altLang="ja-JP" sz="1200">
                <a:solidFill>
                  <a:srgbClr val="3333FF"/>
                </a:solidFill>
              </a:rPr>
              <a:t>mkdir linux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cd linux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cd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rmdir linux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EA35E231-E4D0-964B-A596-D18EDFE5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905000"/>
            <a:ext cx="45720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ja-JP" sz="1400" dirty="0"/>
              <a:t>3. In your home directory,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ls  .</a:t>
            </a:r>
            <a:r>
              <a:rPr lang="en-US" altLang="ja-JP" sz="1200" dirty="0" err="1">
                <a:solidFill>
                  <a:srgbClr val="3333FF"/>
                </a:solidFill>
              </a:rPr>
              <a:t>bash_profile</a:t>
            </a:r>
            <a:endParaRPr lang="en-US" altLang="ja-JP" sz="1200" dirty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cp  .</a:t>
            </a:r>
            <a:r>
              <a:rPr lang="en-US" altLang="ja-JP" sz="1200" dirty="0" err="1">
                <a:solidFill>
                  <a:srgbClr val="3333FF"/>
                </a:solidFill>
              </a:rPr>
              <a:t>bash_profile</a:t>
            </a:r>
            <a:r>
              <a:rPr lang="en-US" altLang="ja-JP" sz="1200" dirty="0">
                <a:solidFill>
                  <a:srgbClr val="3333FF"/>
                </a:solidFill>
              </a:rPr>
              <a:t>  </a:t>
            </a:r>
            <a:r>
              <a:rPr lang="en-US" altLang="ja-JP" sz="1200" dirty="0" err="1">
                <a:solidFill>
                  <a:srgbClr val="3333FF"/>
                </a:solidFill>
              </a:rPr>
              <a:t>sample.txt</a:t>
            </a:r>
            <a:endParaRPr lang="en-US" altLang="ja-JP" sz="1200" dirty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less  </a:t>
            </a:r>
            <a:r>
              <a:rPr lang="en-US" altLang="ja-JP" sz="1200" dirty="0" err="1">
                <a:solidFill>
                  <a:srgbClr val="3333FF"/>
                </a:solidFill>
              </a:rPr>
              <a:t>sample.txt</a:t>
            </a:r>
            <a:r>
              <a:rPr lang="en-US" altLang="ja-JP" sz="1200" dirty="0">
                <a:solidFill>
                  <a:srgbClr val="3333FF"/>
                </a:solidFill>
              </a:rPr>
              <a:t>  (note: to quit </a:t>
            </a:r>
            <a:r>
              <a:rPr lang="en-US" altLang="ja-JP" sz="1200" u="sng" dirty="0">
                <a:solidFill>
                  <a:srgbClr val="3333FF"/>
                </a:solidFill>
              </a:rPr>
              <a:t>less</a:t>
            </a:r>
            <a:r>
              <a:rPr lang="en-US" altLang="ja-JP" sz="1200" dirty="0">
                <a:solidFill>
                  <a:srgbClr val="3333FF"/>
                </a:solidFill>
              </a:rPr>
              <a:t>, press </a:t>
            </a:r>
            <a:r>
              <a:rPr lang="en-US" altLang="ja-JP" sz="1200" dirty="0">
                <a:solidFill>
                  <a:srgbClr val="3333FF"/>
                </a:solidFill>
                <a:latin typeface="Verdana" panose="020B0604030504040204" pitchFamily="34" charset="0"/>
              </a:rPr>
              <a:t>“</a:t>
            </a:r>
            <a:r>
              <a:rPr lang="en-US" altLang="ja-JP" sz="1200" dirty="0">
                <a:solidFill>
                  <a:srgbClr val="3333FF"/>
                </a:solidFill>
              </a:rPr>
              <a:t>q</a:t>
            </a:r>
            <a:r>
              <a:rPr lang="en-US" altLang="ja-JP" sz="1200" dirty="0">
                <a:solidFill>
                  <a:srgbClr val="3333FF"/>
                </a:solidFill>
                <a:latin typeface="Verdana" panose="020B0604030504040204" pitchFamily="34" charset="0"/>
              </a:rPr>
              <a:t>”</a:t>
            </a:r>
            <a:r>
              <a:rPr lang="en-US" altLang="ja-JP" sz="1200" dirty="0">
                <a:solidFill>
                  <a:srgbClr val="3333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rm  </a:t>
            </a:r>
            <a:r>
              <a:rPr lang="en-US" altLang="ja-JP" sz="1200" dirty="0" err="1">
                <a:solidFill>
                  <a:srgbClr val="3333FF"/>
                </a:solidFill>
              </a:rPr>
              <a:t>sample.txt</a:t>
            </a:r>
            <a:endParaRPr lang="en-US" altLang="ja-JP" sz="1200" dirty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ja-JP" sz="1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1400" dirty="0"/>
              <a:t>4. check disk space usage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df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>
                <a:solidFill>
                  <a:srgbClr val="3333FF"/>
                </a:solidFill>
              </a:rPr>
              <a:t>	df -h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200" dirty="0"/>
              <a:t>	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A96BC3E-2423-6C4E-A71A-9DA1ABEAD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Relative &amp; Absolute Path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C8E9ABE1-700A-4147-B455-A506ECB22E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47788" y="1831975"/>
            <a:ext cx="6186487" cy="4257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2000" u="sng"/>
              <a:t>Path</a:t>
            </a:r>
            <a:r>
              <a:rPr lang="en-US" altLang="ja-JP" sz="2000"/>
              <a:t> means a </a:t>
            </a:r>
            <a:r>
              <a:rPr lang="en-US" altLang="ja-JP" sz="2000" u="sng"/>
              <a:t>position</a:t>
            </a:r>
            <a:r>
              <a:rPr lang="en-US" altLang="ja-JP" sz="2000"/>
              <a:t> in the directory tree.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/>
              <a:t>To express a path, you can use </a:t>
            </a:r>
            <a:r>
              <a:rPr lang="en-US" altLang="ja-JP" sz="2000" u="sng"/>
              <a:t>relative path</a:t>
            </a:r>
            <a:r>
              <a:rPr lang="en-US" altLang="ja-JP" sz="2000"/>
              <a:t> or </a:t>
            </a:r>
            <a:r>
              <a:rPr lang="en-US" altLang="ja-JP" sz="2000" u="sng"/>
              <a:t>absolute path</a:t>
            </a:r>
            <a:r>
              <a:rPr lang="en-US" altLang="ja-JP" sz="200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/>
              <a:t>In relative path expression, the path is not defined uniquely, depends on your current path.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/>
              <a:t>In absolute path expression, the path is defined uniquely, does not depend on your current path.</a:t>
            </a:r>
          </a:p>
          <a:p>
            <a:pPr eaLnBrk="1" hangingPunct="1">
              <a:lnSpc>
                <a:spcPct val="90000"/>
              </a:lnSpc>
            </a:pPr>
            <a:endParaRPr lang="en-US" altLang="ja-JP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800"/>
              <a:t>	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758C402-D3B0-A24A-8025-9F82574D7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Absolute Path</a:t>
            </a:r>
          </a:p>
        </p:txBody>
      </p:sp>
      <p:sp>
        <p:nvSpPr>
          <p:cNvPr id="37890" name="Rectangle 4">
            <a:extLst>
              <a:ext uri="{FF2B5EF4-FFF2-40B4-BE49-F238E27FC236}">
                <a16:creationId xmlns:a16="http://schemas.microsoft.com/office/drawing/2014/main" id="{035A6674-119C-7D41-A416-C45BCC1643C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828800"/>
            <a:ext cx="7543800" cy="4343400"/>
          </a:xfrm>
        </p:spPr>
        <p:txBody>
          <a:bodyPr/>
          <a:lstStyle/>
          <a:p>
            <a:pPr eaLnBrk="1" hangingPunct="1"/>
            <a:r>
              <a:rPr lang="en-US" altLang="ja-JP" sz="2000" dirty="0"/>
              <a:t>Address from the root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 dirty="0"/>
              <a:t>		/home/</a:t>
            </a:r>
            <a:r>
              <a:rPr lang="en-US" altLang="ja-JP" sz="2000" dirty="0" err="1"/>
              <a:t>linux</a:t>
            </a:r>
            <a:r>
              <a:rPr lang="en-US" altLang="ja-JP" sz="2000" dirty="0"/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 dirty="0"/>
              <a:t>		~/</a:t>
            </a:r>
            <a:r>
              <a:rPr lang="en-US" altLang="ja-JP" sz="2000" dirty="0" err="1"/>
              <a:t>linux</a:t>
            </a:r>
            <a:endParaRPr lang="en-US" altLang="ja-JP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 dirty="0"/>
              <a:t>		~: </a:t>
            </a:r>
            <a:r>
              <a:rPr lang="fr-CH" altLang="en-US" sz="1800" dirty="0"/>
              <a:t>~: </a:t>
            </a:r>
            <a:r>
              <a:rPr lang="fr-CH" altLang="en-US" sz="1800" dirty="0" err="1"/>
              <a:t>Alt+N</a:t>
            </a:r>
            <a:endParaRPr lang="fr-CH" altLang="en-US" sz="1800" dirty="0"/>
          </a:p>
          <a:p>
            <a:pPr eaLnBrk="1" hangingPunct="1">
              <a:buFont typeface="Wingdings" pitchFamily="2" charset="2"/>
              <a:buNone/>
            </a:pPr>
            <a:endParaRPr lang="en-US" altLang="ja-JP" sz="2000" dirty="0"/>
          </a:p>
          <a:p>
            <a:pPr eaLnBrk="1" hangingPunct="1"/>
            <a:r>
              <a:rPr lang="en-US" altLang="ja-JP" sz="2000" dirty="0"/>
              <a:t>Similar to: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 dirty="0"/>
              <a:t>   		Lausanne University/Lausanne/Canton de Vaud/ Switzerland/Europe/Earth/Solar System/</a:t>
            </a:r>
          </a:p>
        </p:txBody>
      </p:sp>
      <p:sp>
        <p:nvSpPr>
          <p:cNvPr id="37891" name="Text Box 7">
            <a:extLst>
              <a:ext uri="{FF2B5EF4-FFF2-40B4-BE49-F238E27FC236}">
                <a16:creationId xmlns:a16="http://schemas.microsoft.com/office/drawing/2014/main" id="{BEB1C1B6-DA79-6544-9BE4-226597D02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6684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fr-FR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55794400-06FF-3644-8D6C-5E0C4CBE4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Relative Path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0C27F79-4A5C-7E4C-AB7A-BAABEE44047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828800"/>
            <a:ext cx="75438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2400" dirty="0"/>
              <a:t>Relative to your current location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dirty="0"/>
              <a:t>		. : your current location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dirty="0"/>
              <a:t>		.. : one directory above your current location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dirty="0"/>
              <a:t>		</a:t>
            </a:r>
            <a:r>
              <a:rPr lang="en-US" altLang="ja-JP" sz="2400" dirty="0" err="1"/>
              <a:t>pwd</a:t>
            </a:r>
            <a:r>
              <a:rPr lang="en-US" altLang="ja-JP" sz="2400" dirty="0"/>
              <a:t>: gives you your current location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2400" dirty="0"/>
              <a:t>Example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/>
              <a:t>ls ./</a:t>
            </a:r>
            <a:r>
              <a:rPr lang="en-US" altLang="ja-JP" sz="2100" dirty="0" err="1"/>
              <a:t>linux</a:t>
            </a:r>
            <a:r>
              <a:rPr lang="en-US" altLang="ja-JP" sz="2100" dirty="0"/>
              <a:t> : lists the content of the </a:t>
            </a:r>
            <a:r>
              <a:rPr lang="en-US" altLang="ja-JP" sz="2100" dirty="0" err="1"/>
              <a:t>dir</a:t>
            </a:r>
            <a:r>
              <a:rPr lang="en-US" altLang="ja-JP" sz="2100" dirty="0"/>
              <a:t> </a:t>
            </a:r>
            <a:r>
              <a:rPr lang="en-US" altLang="ja-JP" sz="2100" dirty="0" err="1"/>
              <a:t>linux</a:t>
            </a:r>
            <a:endParaRPr lang="en-US" altLang="ja-JP" sz="2100" dirty="0"/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/>
              <a:t>ls ../../ 	: lists everything that is two </a:t>
            </a:r>
            <a:r>
              <a:rPr lang="en-US" altLang="ja-JP" sz="2100" dirty="0" err="1"/>
              <a:t>dir</a:t>
            </a:r>
            <a:r>
              <a:rPr lang="en-US" altLang="ja-JP" sz="2100" dirty="0"/>
              <a:t> </a:t>
            </a:r>
            <a:r>
              <a:rPr lang="en-US" altLang="ja-JP" sz="2100" dirty="0" err="1"/>
              <a:t>higer</a:t>
            </a:r>
            <a:r>
              <a:rPr lang="en-US" altLang="ja-JP" sz="2100" dirty="0"/>
              <a:t>	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21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2400" dirty="0"/>
              <a:t>Similar to: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400" dirty="0"/>
              <a:t>   		Go Left/turn right/take the TSOL/go </a:t>
            </a:r>
          </a:p>
        </p:txBody>
      </p:sp>
      <p:sp>
        <p:nvSpPr>
          <p:cNvPr id="38915" name="Text Box 4">
            <a:extLst>
              <a:ext uri="{FF2B5EF4-FFF2-40B4-BE49-F238E27FC236}">
                <a16:creationId xmlns:a16="http://schemas.microsoft.com/office/drawing/2014/main" id="{98D5EFBE-C329-2043-96EA-9D98982BD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6684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fr-FR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B1931D11-3C3F-1E46-B1FB-4A0AACD927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Relative &amp; Absolute Path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9CC1F345-E778-3645-9B88-4577B87F1CD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982663" y="1687513"/>
            <a:ext cx="3170237" cy="3549650"/>
          </a:xfrm>
        </p:spPr>
        <p:txBody>
          <a:bodyPr/>
          <a:lstStyle/>
          <a:p>
            <a:pPr eaLnBrk="1" hangingPunct="1"/>
            <a:r>
              <a:rPr lang="en-US" altLang="ja-JP" sz="2000"/>
              <a:t>Relative Path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</a:t>
            </a:r>
          </a:p>
        </p:txBody>
      </p:sp>
      <p:sp>
        <p:nvSpPr>
          <p:cNvPr id="39939" name="Text Box 4">
            <a:extLst>
              <a:ext uri="{FF2B5EF4-FFF2-40B4-BE49-F238E27FC236}">
                <a16:creationId xmlns:a16="http://schemas.microsoft.com/office/drawing/2014/main" id="{90443E5F-7326-3C4A-B9CB-932524442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6684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fr-FR" altLang="en-US"/>
          </a:p>
        </p:txBody>
      </p:sp>
      <p:sp>
        <p:nvSpPr>
          <p:cNvPr id="39940" name="Rectangle 8">
            <a:extLst>
              <a:ext uri="{FF2B5EF4-FFF2-40B4-BE49-F238E27FC236}">
                <a16:creationId xmlns:a16="http://schemas.microsoft.com/office/drawing/2014/main" id="{5C8FD905-39C0-1246-A677-4088CFAB9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676400"/>
            <a:ext cx="3505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</a:pPr>
            <a:r>
              <a:rPr lang="en-US" altLang="ja-JP" sz="2000"/>
              <a:t>Ablsoute Path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mkdir mydir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/Users/invite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/Users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/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pwd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/Users/invite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ja-JP" sz="2000">
                <a:solidFill>
                  <a:srgbClr val="3333FF"/>
                </a:solidFill>
              </a:rPr>
              <a:t>	cd ~/mydir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altLang="ja-JP" sz="200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C900FBAF-152F-AA4A-8675-FB93D429F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Redirect, Append and Pipe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7A8A1C56-A887-2944-A289-7039A43BE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83820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u="sng" dirty="0"/>
              <a:t>Redirect and append</a:t>
            </a:r>
          </a:p>
          <a:p>
            <a:pPr eaLnBrk="1" hangingPunct="1"/>
            <a:r>
              <a:rPr lang="en-US" altLang="en-US" sz="1800" dirty="0"/>
              <a:t>Output of command is displayed on screen. </a:t>
            </a:r>
          </a:p>
          <a:p>
            <a:pPr eaLnBrk="1" hangingPunct="1"/>
            <a:r>
              <a:rPr lang="en-US" altLang="en-US" sz="1800" dirty="0"/>
              <a:t>Using </a:t>
            </a:r>
            <a:r>
              <a:rPr lang="ja-JP" altLang="en-US" sz="1800"/>
              <a:t>“</a:t>
            </a:r>
            <a:r>
              <a:rPr lang="en-US" altLang="ja-JP" sz="1800" dirty="0"/>
              <a:t>&gt;</a:t>
            </a:r>
            <a:r>
              <a:rPr lang="ja-JP" altLang="en-US" sz="1800"/>
              <a:t>”</a:t>
            </a:r>
            <a:r>
              <a:rPr lang="en-US" altLang="ja-JP" sz="1800" dirty="0"/>
              <a:t>, you can </a:t>
            </a:r>
            <a:r>
              <a:rPr lang="en-US" altLang="ja-JP" sz="1800" u="sng" dirty="0"/>
              <a:t>redirect</a:t>
            </a:r>
            <a:r>
              <a:rPr lang="en-US" altLang="ja-JP" sz="1800" dirty="0"/>
              <a:t> the output from screen to a file. </a:t>
            </a:r>
          </a:p>
          <a:p>
            <a:pPr eaLnBrk="1" hangingPunct="1"/>
            <a:r>
              <a:rPr lang="en-US" altLang="en-US" sz="1800" dirty="0"/>
              <a:t>Using </a:t>
            </a:r>
            <a:r>
              <a:rPr lang="ja-JP" altLang="en-US" sz="1800"/>
              <a:t>“</a:t>
            </a:r>
            <a:r>
              <a:rPr lang="en-US" altLang="ja-JP" sz="1800" dirty="0"/>
              <a:t>&gt;&gt;</a:t>
            </a:r>
            <a:r>
              <a:rPr lang="ja-JP" altLang="en-US" sz="1800"/>
              <a:t>”</a:t>
            </a:r>
            <a:r>
              <a:rPr lang="en-US" altLang="ja-JP" sz="1800" dirty="0"/>
              <a:t> you can </a:t>
            </a:r>
            <a:r>
              <a:rPr lang="en-US" altLang="ja-JP" sz="1800" u="sng" dirty="0"/>
              <a:t>append</a:t>
            </a:r>
            <a:r>
              <a:rPr lang="en-US" altLang="ja-JP" sz="1800" dirty="0"/>
              <a:t> the output to the bottom of the file.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800" dirty="0"/>
          </a:p>
          <a:p>
            <a:pPr eaLnBrk="1" hangingPunct="1">
              <a:buFont typeface="Wingdings" pitchFamily="2" charset="2"/>
              <a:buNone/>
            </a:pPr>
            <a:endParaRPr lang="en-US" altLang="en-US" sz="1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u="sng" dirty="0"/>
              <a:t>Pipe</a:t>
            </a:r>
          </a:p>
          <a:p>
            <a:pPr eaLnBrk="1" hangingPunct="1"/>
            <a:r>
              <a:rPr lang="en-US" altLang="en-US" sz="1800" dirty="0"/>
              <a:t>Some commands require input from a file or </a:t>
            </a:r>
            <a:r>
              <a:rPr lang="en-US" altLang="en-US" sz="1800" u="sng" dirty="0"/>
              <a:t>other commands</a:t>
            </a:r>
            <a:r>
              <a:rPr lang="en-US" altLang="en-US" sz="1800" dirty="0"/>
              <a:t>.</a:t>
            </a:r>
          </a:p>
          <a:p>
            <a:pPr eaLnBrk="1" hangingPunct="1"/>
            <a:r>
              <a:rPr lang="en-US" altLang="en-US" sz="1800" dirty="0"/>
              <a:t>Using </a:t>
            </a:r>
            <a:r>
              <a:rPr lang="ja-JP" altLang="en-US" sz="1800"/>
              <a:t>“</a:t>
            </a:r>
            <a:r>
              <a:rPr lang="en-US" altLang="ja-JP" sz="1800" dirty="0"/>
              <a:t>|</a:t>
            </a:r>
            <a:r>
              <a:rPr lang="ja-JP" altLang="en-US" sz="1800"/>
              <a:t>”</a:t>
            </a:r>
            <a:r>
              <a:rPr lang="en-US" altLang="ja-JP" sz="1800" dirty="0"/>
              <a:t>, you can use output from other command as input to the command.</a:t>
            </a:r>
          </a:p>
          <a:p>
            <a:pPr eaLnBrk="1" hangingPunct="1"/>
            <a:r>
              <a:rPr lang="en-US" altLang="en-US" sz="1800" dirty="0"/>
              <a:t>On </a:t>
            </a:r>
            <a:r>
              <a:rPr lang="en-US" altLang="en-US" sz="1800" dirty="0" err="1"/>
              <a:t>MacOSX</a:t>
            </a:r>
            <a:r>
              <a:rPr lang="en-US" altLang="en-US" sz="1800" dirty="0"/>
              <a:t>, The Pipe sign: (</a:t>
            </a:r>
            <a:r>
              <a:rPr lang="fr-CH" altLang="en-US" sz="1600" b="1" dirty="0" err="1"/>
              <a:t>Shift+Alt+N</a:t>
            </a:r>
            <a:r>
              <a:rPr lang="fr-CH" altLang="en-US" sz="1600" b="1" dirty="0"/>
              <a:t>: franc, Alt+7)</a:t>
            </a:r>
            <a:r>
              <a:rPr lang="en-US" altLang="en-US" sz="1800" b="1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EE2678C9-2436-3944-BC8C-2DF5C62E7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Redirect, Append and Pipe</a:t>
            </a:r>
            <a:endParaRPr lang="en-US" altLang="ja-JP"/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39943FA3-A857-184F-B38F-7B7834DB4E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27384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/>
              <a:t>Commands</a:t>
            </a:r>
            <a:endParaRPr lang="en-US" altLang="ja-JP" sz="2000"/>
          </a:p>
          <a:p>
            <a:pPr eaLnBrk="1" hangingPunct="1"/>
            <a:r>
              <a:rPr lang="en-US" altLang="ja-JP" sz="1800"/>
              <a:t>head		show </a:t>
            </a:r>
            <a:r>
              <a:rPr lang="en-US" altLang="ja-JP" sz="1800" u="sng"/>
              <a:t>first</a:t>
            </a:r>
            <a:r>
              <a:rPr lang="en-US" altLang="ja-JP" sz="1800"/>
              <a:t> several lines and omit other lines.</a:t>
            </a:r>
          </a:p>
          <a:p>
            <a:pPr eaLnBrk="1" hangingPunct="1"/>
            <a:endParaRPr lang="en-US" altLang="ja-JP" sz="1800"/>
          </a:p>
          <a:p>
            <a:pPr eaLnBrk="1" hangingPunct="1"/>
            <a:r>
              <a:rPr lang="en-US" altLang="ja-JP" sz="1800"/>
              <a:t>tail		show </a:t>
            </a:r>
            <a:r>
              <a:rPr lang="en-US" altLang="ja-JP" sz="1800" u="sng"/>
              <a:t>last</a:t>
            </a:r>
            <a:r>
              <a:rPr lang="en-US" altLang="ja-JP" sz="1800"/>
              <a:t> several lines and omit	other lines.</a:t>
            </a:r>
          </a:p>
          <a:p>
            <a:pPr eaLnBrk="1" hangingPunct="1"/>
            <a:endParaRPr lang="en-US" altLang="ja-JP" sz="1800"/>
          </a:p>
          <a:p>
            <a:pPr eaLnBrk="1" hangingPunct="1"/>
            <a:r>
              <a:rPr lang="en-US" altLang="ja-JP" sz="1800" b="1"/>
              <a:t>grep XXX File</a:t>
            </a:r>
            <a:r>
              <a:rPr lang="en-US" altLang="ja-JP" sz="1800"/>
              <a:t> show lines matching pattern XXX in File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63EE5173-918F-AF44-9E68-3BA2FD1E3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Redirect, Append and Pipe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448A438B-5A60-954D-9AA9-2D134368B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1743075"/>
            <a:ext cx="3538538" cy="4302125"/>
          </a:xfrm>
        </p:spPr>
        <p:txBody>
          <a:bodyPr/>
          <a:lstStyle/>
          <a:p>
            <a:pPr eaLnBrk="1" hangingPunct="1"/>
            <a:r>
              <a:rPr lang="en-US" altLang="en-US" sz="1400"/>
              <a:t>In home directory,</a:t>
            </a:r>
            <a:r>
              <a:rPr lang="en-US" altLang="en-US" sz="1200"/>
              <a:t> type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200">
                <a:solidFill>
                  <a:srgbClr val="3333FF"/>
                </a:solidFill>
              </a:rPr>
              <a:t>	</a:t>
            </a:r>
            <a:r>
              <a:rPr lang="en-US" altLang="en-US" sz="1400">
                <a:solidFill>
                  <a:srgbClr val="3333FF"/>
                </a:solidFill>
              </a:rPr>
              <a:t>ls -1 &gt; sample.txt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less sample.txt</a:t>
            </a:r>
          </a:p>
          <a:p>
            <a:pPr eaLnBrk="1" hangingPunct="1"/>
            <a:r>
              <a:rPr lang="en-US" altLang="en-US" sz="1400"/>
              <a:t>Use redirect.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head -3 sample.txt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head -3 sample.txt &gt; redirect.txt</a:t>
            </a:r>
          </a:p>
          <a:p>
            <a:pPr eaLnBrk="1" hangingPunct="1"/>
            <a:r>
              <a:rPr lang="en-US" altLang="en-US" sz="1400"/>
              <a:t>Use append.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tail -3 sample.txt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tail -3 sample.txt &gt;&gt; redirect.txt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less redirect.txt</a:t>
            </a:r>
            <a:endParaRPr lang="en-US" altLang="en-US" sz="1400"/>
          </a:p>
          <a:p>
            <a:pPr lvl="1" eaLnBrk="1" hangingPunct="1"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707E4F41-27CE-3342-93CD-59CD346D8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28800"/>
            <a:ext cx="3429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400"/>
              <a:t>Use pipe.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less redirect.txt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grep Desk redirect.txt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grep –n Desk redirect.txt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man grep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tail redirect.txt | grep Desk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rm sample.txt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solidFill>
                  <a:srgbClr val="3333FF"/>
                </a:solidFill>
              </a:rPr>
              <a:t>rm redirect.txt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1500">
              <a:solidFill>
                <a:srgbClr val="3333FF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CECE049E-E271-6B41-8A97-C7FD8606B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</a:t>
            </a:r>
            <a:endParaRPr lang="en-US" altLang="ja-JP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A6F6069-4ABC-D549-AD0F-BA101D9C37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17638" y="1600200"/>
            <a:ext cx="7053262" cy="27384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b="1" u="sng"/>
              <a:t>Commands</a:t>
            </a:r>
            <a:endParaRPr lang="en-US" altLang="ja-JP" sz="2000"/>
          </a:p>
          <a:p>
            <a:pPr eaLnBrk="1" hangingPunct="1"/>
            <a:r>
              <a:rPr lang="en-US" altLang="ja-JP" sz="1800"/>
              <a:t>sort		Sorts using the first field of each line.</a:t>
            </a:r>
          </a:p>
          <a:p>
            <a:pPr eaLnBrk="1" hangingPunct="1"/>
            <a:endParaRPr lang="en-US" altLang="ja-JP" sz="1800"/>
          </a:p>
          <a:p>
            <a:pPr eaLnBrk="1" hangingPunct="1"/>
            <a:r>
              <a:rPr lang="en-US" altLang="ja-JP" sz="1800"/>
              <a:t>-n		Sorts considering the numeric value of the strings</a:t>
            </a:r>
          </a:p>
          <a:p>
            <a:pPr eaLnBrk="1" hangingPunct="1"/>
            <a:r>
              <a:rPr lang="en-US" altLang="ja-JP" sz="1800"/>
              <a:t>-k3		Sorts using the third field of each line</a:t>
            </a:r>
          </a:p>
          <a:p>
            <a:pPr eaLnBrk="1" hangingPunct="1"/>
            <a:r>
              <a:rPr lang="en-US" altLang="ja-JP" sz="1800"/>
              <a:t>-rnk3		Sorts in reverse order, using the numeric value of 		the third field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E58A42A6-EBD1-8D4E-929E-60BAFEBAD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Redirect, Append and Pipe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88A7113B-E70D-BB41-86C4-FC45B3038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1743075"/>
            <a:ext cx="7616825" cy="4302125"/>
          </a:xfrm>
        </p:spPr>
        <p:txBody>
          <a:bodyPr/>
          <a:lstStyle/>
          <a:p>
            <a:pPr eaLnBrk="1" hangingPunct="1"/>
            <a:r>
              <a:rPr lang="en-US" altLang="en-US" sz="1400"/>
              <a:t>Identify the largest file in a directory:</a:t>
            </a:r>
            <a:endParaRPr lang="en-US" altLang="en-US" sz="120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1200">
                <a:solidFill>
                  <a:srgbClr val="3333FF"/>
                </a:solidFill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200">
                <a:solidFill>
                  <a:srgbClr val="3333FF"/>
                </a:solidFill>
              </a:rPr>
              <a:t>			</a:t>
            </a:r>
            <a:r>
              <a:rPr lang="en-US" altLang="en-US" sz="1400">
                <a:solidFill>
                  <a:srgbClr val="3333FF"/>
                </a:solidFill>
              </a:rPr>
              <a:t>ls –la /bin/ | sort –nk5 | tail -1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>
                <a:solidFill>
                  <a:srgbClr val="3333FF"/>
                </a:solidFill>
              </a:rPr>
              <a:t>	</a:t>
            </a:r>
            <a:endParaRPr lang="en-US" alt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BF4F634B-7A1A-A545-9402-8456CF6B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28800"/>
            <a:ext cx="3429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endParaRPr lang="fr-FR" altLang="en-US" sz="2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E58A42A6-EBD1-8D4E-929E-60BAFEBAD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Wildcards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88A7113B-E70D-BB41-86C4-FC45B3038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1743075"/>
            <a:ext cx="7616825" cy="4302125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The * wild card </a:t>
            </a:r>
            <a:r>
              <a:rPr lang="en-US" sz="1800" b="1" dirty="0"/>
              <a:t>– </a:t>
            </a:r>
            <a:r>
              <a:rPr lang="en-US" sz="1800" dirty="0"/>
              <a:t>This wildcard represents all the characters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The ? </a:t>
            </a:r>
            <a:r>
              <a:rPr lang="en-US" sz="1800" b="1" dirty="0"/>
              <a:t>– </a:t>
            </a:r>
            <a:r>
              <a:rPr lang="en-US" sz="1800" dirty="0"/>
              <a:t>This wildcard represents a single character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The [ ] </a:t>
            </a:r>
            <a:r>
              <a:rPr lang="en-US" sz="1800" b="1" dirty="0"/>
              <a:t>– </a:t>
            </a:r>
            <a:r>
              <a:rPr lang="en-US" sz="1800" dirty="0"/>
              <a:t>This wildcard represents a range of characters</a:t>
            </a:r>
            <a:endParaRPr lang="en-US" altLang="en-US" sz="1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/>
              <a:t>	</a:t>
            </a:r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BF4F634B-7A1A-A545-9402-8456CF6B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28800"/>
            <a:ext cx="3429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endParaRPr lang="fr-FR" altLang="en-US" sz="2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DF5885-BE88-674F-992A-F9868B0F9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25" y="2919086"/>
            <a:ext cx="4527550" cy="36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54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170AB1C4-EA91-4348-B1BC-5189EBE74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Permission 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AD5D5356-C581-C542-8EC4-BC72CFE30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010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/>
              <a:t>All of files and directories have owner and permission.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There are three types of permission, </a:t>
            </a:r>
            <a:r>
              <a:rPr lang="en-US" altLang="ja-JP" sz="2000" u="sng"/>
              <a:t>readable</a:t>
            </a:r>
            <a:r>
              <a:rPr lang="en-US" altLang="ja-JP" sz="2000"/>
              <a:t>, </a:t>
            </a:r>
            <a:r>
              <a:rPr lang="en-US" altLang="ja-JP" sz="2000" u="sng"/>
              <a:t>writeable </a:t>
            </a:r>
            <a:r>
              <a:rPr lang="en-US" altLang="ja-JP" sz="2000"/>
              <a:t>and</a:t>
            </a:r>
            <a:r>
              <a:rPr lang="en-US" altLang="ja-JP" sz="2000" u="sng"/>
              <a:t> executable</a:t>
            </a:r>
            <a:r>
              <a:rPr lang="en-US" altLang="ja-JP" sz="200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Permissions are given to three kinds of group. </a:t>
            </a:r>
            <a:r>
              <a:rPr lang="en-US" altLang="ja-JP" sz="2000" u="sng"/>
              <a:t>owner</a:t>
            </a:r>
            <a:r>
              <a:rPr lang="en-US" altLang="ja-JP" sz="2000"/>
              <a:t>, </a:t>
            </a:r>
            <a:r>
              <a:rPr lang="en-US" altLang="ja-JP" sz="2000" u="sng"/>
              <a:t>group member</a:t>
            </a:r>
            <a:r>
              <a:rPr lang="en-US" altLang="ja-JP" sz="2000"/>
              <a:t> and </a:t>
            </a:r>
            <a:r>
              <a:rPr lang="en-US" altLang="ja-JP" sz="2000" u="sng"/>
              <a:t>others</a:t>
            </a:r>
            <a:r>
              <a:rPr lang="en-US" altLang="ja-JP" sz="2000"/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ja-JP" sz="20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800">
                <a:solidFill>
                  <a:srgbClr val="3333FF"/>
                </a:solidFill>
              </a:rPr>
              <a:t>   </a:t>
            </a:r>
            <a:r>
              <a:rPr lang="en-US" altLang="ja-JP" sz="1400">
                <a:solidFill>
                  <a:srgbClr val="3333FF"/>
                </a:solidFill>
              </a:rPr>
              <a:t>ls -l .bash_profile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ja-JP" sz="1400"/>
              <a:t>	-rw-r--r--    1 cnotred    cnotred         191 Jan  4 13:11 .bash_profile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ja-JP" sz="1400"/>
          </a:p>
          <a:p>
            <a:pPr eaLnBrk="1" hangingPunct="1">
              <a:lnSpc>
                <a:spcPct val="80000"/>
              </a:lnSpc>
            </a:pPr>
            <a:r>
              <a:rPr lang="en-US" altLang="ja-JP" sz="1800"/>
              <a:t>r:readable,  w:writable,  x: executable</a:t>
            </a:r>
            <a:endParaRPr lang="ja-JP" altLang="en-US" sz="18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C731FFB-8195-7F4E-B36C-F6CE31A87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Permission 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EC69E968-2C44-804E-9C8F-6EAC55034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7938" y="1743075"/>
            <a:ext cx="7126287" cy="42878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2400" b="1" u="sng"/>
              <a:t>Command</a:t>
            </a:r>
            <a:endParaRPr lang="en-US" altLang="ja-JP" sz="2400"/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chmod		change file mode, add or remove 				permission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chown		change owner of the file</a:t>
            </a:r>
          </a:p>
          <a:p>
            <a:pPr eaLnBrk="1" hangingPunct="1">
              <a:lnSpc>
                <a:spcPct val="80000"/>
              </a:lnSpc>
            </a:pPr>
            <a:endParaRPr lang="en-US" altLang="ja-JP" sz="20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Example)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       chmod a+w filename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			add writable permission to all users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       chmod o-x  filename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			remove executable permission from others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	  chmod a+x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1800"/>
              <a:t>			Gives permission to the usser to execute a file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ja-JP" sz="2000"/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u: user (owner), 	g: group,	o: others	a: all</a:t>
            </a:r>
            <a:r>
              <a:rPr lang="en-US" altLang="ja-JP" sz="1800"/>
              <a:t> 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2D6AB602-AA48-D443-B7DB-4661312C2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Permission 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2C134698-2992-6E43-9446-545EAC365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0300" y="1600200"/>
            <a:ext cx="619442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800" b="1" u="sng"/>
          </a:p>
          <a:p>
            <a:pPr eaLnBrk="1" hangingPunct="1">
              <a:lnSpc>
                <a:spcPct val="90000"/>
              </a:lnSpc>
            </a:pPr>
            <a:r>
              <a:rPr lang="en-US" altLang="ja-JP" sz="1200"/>
              <a:t>Check permission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–l .bash_profile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cp .bash_profile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–l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20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ja-JP" sz="1200"/>
              <a:t>Remove readable permission from all.</a:t>
            </a:r>
            <a:r>
              <a:rPr lang="en-US" altLang="ja-JP" sz="1200">
                <a:solidFill>
                  <a:srgbClr val="3333FF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chmod a-r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–l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less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20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ja-JP" sz="1200"/>
              <a:t>Add readable &amp; writable premissions to file owner.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chmod u+rw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ls –l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less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200">
                <a:solidFill>
                  <a:srgbClr val="3333FF"/>
                </a:solidFill>
              </a:rPr>
              <a:t>	rm sample.txt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20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2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80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9719F02D-0180-2640-9014-7769B9424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Process Management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89C37157-C25D-2D4A-B611-7EA65D32A3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269163" cy="24844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1800" u="sng"/>
              <a:t>Process</a:t>
            </a:r>
            <a:r>
              <a:rPr lang="en-US" altLang="ja-JP" sz="1800"/>
              <a:t> is a unit of running program.</a:t>
            </a:r>
          </a:p>
          <a:p>
            <a:pPr eaLnBrk="1" hangingPunct="1">
              <a:lnSpc>
                <a:spcPct val="80000"/>
              </a:lnSpc>
            </a:pPr>
            <a:endParaRPr lang="en-US" altLang="ja-JP" sz="1800"/>
          </a:p>
          <a:p>
            <a:pPr eaLnBrk="1" hangingPunct="1">
              <a:lnSpc>
                <a:spcPct val="80000"/>
              </a:lnSpc>
            </a:pPr>
            <a:r>
              <a:rPr lang="en-US" altLang="ja-JP" sz="1800"/>
              <a:t>Each process has some information, like process ID, owner, priority, etc.</a:t>
            </a:r>
          </a:p>
          <a:p>
            <a:pPr eaLnBrk="1" hangingPunct="1">
              <a:lnSpc>
                <a:spcPct val="80000"/>
              </a:lnSpc>
            </a:pPr>
            <a:endParaRPr lang="en-US" altLang="ja-JP" sz="1800"/>
          </a:p>
          <a:p>
            <a:pPr eaLnBrk="1" hangingPunct="1">
              <a:lnSpc>
                <a:spcPct val="80000"/>
              </a:lnSpc>
            </a:pPr>
            <a:endParaRPr lang="en-US" altLang="ja-JP" sz="1400"/>
          </a:p>
        </p:txBody>
      </p:sp>
      <p:pic>
        <p:nvPicPr>
          <p:cNvPr id="16393" name="Picture 9">
            <a:extLst>
              <a:ext uri="{FF2B5EF4-FFF2-40B4-BE49-F238E27FC236}">
                <a16:creationId xmlns:a16="http://schemas.microsoft.com/office/drawing/2014/main" id="{C787D28F-A794-B543-852B-C0A3A625BC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4572000"/>
            <a:ext cx="6934200" cy="1719263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</p:pic>
      <p:sp>
        <p:nvSpPr>
          <p:cNvPr id="50180" name="Text Box 11">
            <a:extLst>
              <a:ext uri="{FF2B5EF4-FFF2-40B4-BE49-F238E27FC236}">
                <a16:creationId xmlns:a16="http://schemas.microsoft.com/office/drawing/2014/main" id="{0D3DB299-3208-7A4E-B08D-B89B44456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414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000">
                <a:latin typeface="Helvetica-Bold" pitchFamily="2" charset="0"/>
              </a:rPr>
              <a:t>Example) Output of “top” command</a:t>
            </a:r>
            <a:endParaRPr lang="en-US" altLang="ja-JP" sz="2000">
              <a:latin typeface="Times" pitchFamily="2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59828D96-3116-744D-B592-514A1340A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Process Management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48BC40DB-B950-9442-9157-999E016EAF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704138" cy="43497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 u="sng"/>
              <a:t>Commands</a:t>
            </a:r>
            <a:r>
              <a:rPr lang="en-US" altLang="ja-JP" sz="2000" b="1" u="sng"/>
              <a:t> </a:t>
            </a:r>
            <a:endParaRPr lang="en-US" altLang="ja-JP" sz="2000"/>
          </a:p>
          <a:p>
            <a:pPr eaLnBrk="1" hangingPunct="1"/>
            <a:r>
              <a:rPr lang="en-US" altLang="ja-JP" sz="2000"/>
              <a:t>kill 	</a:t>
            </a:r>
            <a:r>
              <a:rPr lang="en-US" altLang="ja-JP" sz="2000" i="1"/>
              <a:t>	</a:t>
            </a:r>
            <a:r>
              <a:rPr lang="en-US" altLang="ja-JP" sz="2000"/>
              <a:t>Stop a program. The program is 				specified by </a:t>
            </a:r>
            <a:r>
              <a:rPr lang="en-US" altLang="ja-JP" sz="2000" u="sng"/>
              <a:t>process ID</a:t>
            </a:r>
            <a:r>
              <a:rPr lang="en-US" altLang="ja-JP" sz="2000"/>
              <a:t>. </a:t>
            </a:r>
          </a:p>
          <a:p>
            <a:pPr eaLnBrk="1" hangingPunct="1"/>
            <a:r>
              <a:rPr lang="en-US" altLang="ja-JP" sz="2000"/>
              <a:t>killall		Stop a program. The program  is 				specified by </a:t>
            </a:r>
            <a:r>
              <a:rPr lang="en-US" altLang="ja-JP" sz="2000" u="sng"/>
              <a:t>command name</a:t>
            </a:r>
            <a:r>
              <a:rPr lang="en-US" altLang="ja-JP" sz="2000"/>
              <a:t>. </a:t>
            </a:r>
          </a:p>
          <a:p>
            <a:pPr eaLnBrk="1" hangingPunct="1"/>
            <a:r>
              <a:rPr lang="en-US" altLang="ja-JP" sz="2000"/>
              <a:t>ps		Show process status	</a:t>
            </a:r>
          </a:p>
          <a:p>
            <a:pPr eaLnBrk="1" hangingPunct="1"/>
            <a:r>
              <a:rPr lang="en-US" altLang="ja-JP" sz="2000"/>
              <a:t>top 		Show system usage statistics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836F0227-C4E0-5C44-898A-0C8456FF0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Process Management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66476836-3F68-1149-8525-2D01D2D0F5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3019425" cy="4349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b="1" u="sng"/>
          </a:p>
          <a:p>
            <a:pPr eaLnBrk="1" hangingPunct="1">
              <a:lnSpc>
                <a:spcPct val="90000"/>
              </a:lnSpc>
            </a:pPr>
            <a:r>
              <a:rPr lang="en-US" altLang="ja-JP" sz="1800"/>
              <a:t>Check your process.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ps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ps  </a:t>
            </a:r>
            <a:r>
              <a:rPr lang="en-US" altLang="ja-JP" sz="1600">
                <a:solidFill>
                  <a:srgbClr val="3333FF"/>
                </a:solidFill>
                <a:latin typeface="Verdana" panose="020B0604030504040204" pitchFamily="34" charset="0"/>
              </a:rPr>
              <a:t>–</a:t>
            </a:r>
            <a:r>
              <a:rPr lang="en-US" altLang="ja-JP" sz="1600">
                <a:solidFill>
                  <a:srgbClr val="3333FF"/>
                </a:solidFill>
              </a:rPr>
              <a:t>u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60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ja-JP" sz="1800"/>
              <a:t>Check process of all users.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800">
                <a:solidFill>
                  <a:srgbClr val="3333FF"/>
                </a:solidFill>
              </a:rPr>
              <a:t>	top (To quit top, press </a:t>
            </a:r>
            <a:r>
              <a:rPr lang="en-US" altLang="ja-JP" sz="1800">
                <a:solidFill>
                  <a:srgbClr val="3333FF"/>
                </a:solidFill>
                <a:latin typeface="Verdana" panose="020B0604030504040204" pitchFamily="34" charset="0"/>
              </a:rPr>
              <a:t>“</a:t>
            </a:r>
            <a:r>
              <a:rPr lang="en-US" altLang="ja-JP" sz="1800">
                <a:solidFill>
                  <a:srgbClr val="3333FF"/>
                </a:solidFill>
              </a:rPr>
              <a:t>q</a:t>
            </a:r>
            <a:r>
              <a:rPr lang="en-US" altLang="ja-JP" sz="1800">
                <a:solidFill>
                  <a:srgbClr val="3333FF"/>
                </a:solidFill>
                <a:latin typeface="Verdana" panose="020B0604030504040204" pitchFamily="34" charset="0"/>
              </a:rPr>
              <a:t>”</a:t>
            </a:r>
            <a:r>
              <a:rPr lang="en-US" altLang="ja-JP" sz="1800">
                <a:solidFill>
                  <a:srgbClr val="3333FF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ps  </a:t>
            </a:r>
            <a:r>
              <a:rPr lang="en-US" altLang="ja-JP" sz="1600">
                <a:solidFill>
                  <a:srgbClr val="3333FF"/>
                </a:solidFill>
                <a:latin typeface="Verdana" panose="020B0604030504040204" pitchFamily="34" charset="0"/>
              </a:rPr>
              <a:t>–</a:t>
            </a:r>
            <a:r>
              <a:rPr lang="en-US" altLang="ja-JP" sz="1600">
                <a:solidFill>
                  <a:srgbClr val="3333FF"/>
                </a:solidFill>
              </a:rPr>
              <a:t>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ps  </a:t>
            </a:r>
            <a:r>
              <a:rPr lang="en-US" altLang="ja-JP" sz="1600">
                <a:solidFill>
                  <a:srgbClr val="3333FF"/>
                </a:solidFill>
                <a:latin typeface="Verdana" panose="020B0604030504040204" pitchFamily="34" charset="0"/>
              </a:rPr>
              <a:t>–</a:t>
            </a:r>
            <a:r>
              <a:rPr lang="en-US" altLang="ja-JP" sz="1600">
                <a:solidFill>
                  <a:srgbClr val="3333FF"/>
                </a:solidFill>
              </a:rPr>
              <a:t>ef</a:t>
            </a:r>
          </a:p>
          <a:p>
            <a:pPr eaLnBrk="1" hangingPunct="1">
              <a:lnSpc>
                <a:spcPct val="90000"/>
              </a:lnSpc>
            </a:pPr>
            <a:endParaRPr lang="en-US" altLang="ja-JP" sz="180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ja-JP" sz="1800"/>
              <a:t>Find your process.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1600">
                <a:solidFill>
                  <a:srgbClr val="3333FF"/>
                </a:solidFill>
              </a:rPr>
              <a:t>	ps  –ef   |   grep   cnotred</a:t>
            </a:r>
            <a:r>
              <a:rPr lang="en-US" altLang="ja-JP"/>
              <a:t> 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9E169FCB-738F-BC4D-AB05-83A15AFF7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Install Software</a:t>
            </a:r>
          </a:p>
        </p:txBody>
      </p:sp>
      <p:sp>
        <p:nvSpPr>
          <p:cNvPr id="55298" name="Rectangle 4">
            <a:extLst>
              <a:ext uri="{FF2B5EF4-FFF2-40B4-BE49-F238E27FC236}">
                <a16:creationId xmlns:a16="http://schemas.microsoft.com/office/drawing/2014/main" id="{29F547FA-6FDA-9843-B7D0-FB3C208C56B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838200" y="1828800"/>
            <a:ext cx="7464425" cy="4495800"/>
          </a:xfrm>
        </p:spPr>
        <p:txBody>
          <a:bodyPr/>
          <a:lstStyle/>
          <a:p>
            <a:pPr marL="533400" indent="-533400" eaLnBrk="1" hangingPunct="1"/>
            <a:r>
              <a:rPr lang="en-US" altLang="ja-JP" sz="1800">
                <a:latin typeface="ArialMT" charset="0"/>
              </a:rPr>
              <a:t>Unix system has a “</a:t>
            </a:r>
            <a:r>
              <a:rPr lang="en-US" altLang="ja-JP" sz="1800" i="1">
                <a:latin typeface="ArialMT" charset="0"/>
              </a:rPr>
              <a:t>de facto</a:t>
            </a:r>
            <a:r>
              <a:rPr lang="en-US" altLang="ja-JP" sz="1800">
                <a:latin typeface="ArialMT" charset="0"/>
              </a:rPr>
              <a:t> standard” way to install a software.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ja-JP" sz="1800">
                <a:latin typeface="ArialMT" charset="0"/>
              </a:rPr>
              <a:t>                    </a:t>
            </a:r>
            <a:r>
              <a:rPr lang="en-US" altLang="ja-JP" sz="1800" u="sng">
                <a:latin typeface="ArialMT" charset="0"/>
              </a:rPr>
              <a:t>configure, make &amp; make install</a:t>
            </a:r>
          </a:p>
          <a:p>
            <a:pPr marL="533400" indent="-533400" eaLnBrk="1" hangingPunct="1"/>
            <a:endParaRPr lang="en-US" altLang="ja-JP" sz="1800" u="sng">
              <a:latin typeface="ArialMT" charset="0"/>
            </a:endParaRPr>
          </a:p>
          <a:p>
            <a:pPr marL="533400" indent="-533400" eaLnBrk="1" hangingPunct="1"/>
            <a:r>
              <a:rPr lang="en-US" altLang="ja-JP" sz="1800">
                <a:latin typeface="ArialMT" charset="0"/>
              </a:rPr>
              <a:t>Typical software installation procedure as following.</a:t>
            </a:r>
            <a:r>
              <a:rPr lang="en-US" altLang="ja-JP" sz="1800" u="sng">
                <a:latin typeface="ArialMT" charset="0"/>
              </a:rPr>
              <a:t> 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altLang="ja-JP" sz="1800">
                <a:latin typeface="ArialMT" charset="0"/>
              </a:rPr>
              <a:t>Download source code. Usually, it’s archived with </a:t>
            </a:r>
            <a:r>
              <a:rPr lang="en-US" altLang="ja-JP" sz="1800" u="sng">
                <a:latin typeface="ArialMT" charset="0"/>
              </a:rPr>
              <a:t>tar</a:t>
            </a:r>
            <a:r>
              <a:rPr lang="en-US" altLang="ja-JP" sz="1800">
                <a:latin typeface="ArialMT" charset="0"/>
              </a:rPr>
              <a:t> command and compressed with </a:t>
            </a:r>
            <a:r>
              <a:rPr lang="en-US" altLang="ja-JP" sz="1800" u="sng">
                <a:latin typeface="ArialMT" charset="0"/>
              </a:rPr>
              <a:t>gzip</a:t>
            </a:r>
            <a:r>
              <a:rPr lang="en-US" altLang="ja-JP" sz="1800">
                <a:latin typeface="ArialMT" charset="0"/>
              </a:rPr>
              <a:t> command.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altLang="ja-JP" sz="1800" u="sng">
                <a:latin typeface="ArialMT" charset="0"/>
              </a:rPr>
              <a:t>configure</a:t>
            </a:r>
            <a:r>
              <a:rPr lang="en-US" altLang="ja-JP" sz="1800">
                <a:latin typeface="ArialMT" charset="0"/>
              </a:rPr>
              <a:t> command creates </a:t>
            </a:r>
            <a:r>
              <a:rPr lang="en-US" altLang="ja-JP" sz="1800" u="sng">
                <a:latin typeface="ArialMT" charset="0"/>
              </a:rPr>
              <a:t>Makefile</a:t>
            </a:r>
            <a:r>
              <a:rPr lang="en-US" altLang="ja-JP" sz="1800">
                <a:latin typeface="ArialMT" charset="0"/>
              </a:rPr>
              <a:t> automatically which is used to compile the source. 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altLang="ja-JP" sz="1800">
                <a:latin typeface="ArialMT" charset="0"/>
              </a:rPr>
              <a:t>Program compilation is written in </a:t>
            </a:r>
            <a:r>
              <a:rPr lang="en-US" altLang="ja-JP" sz="1800" u="sng">
                <a:latin typeface="ArialMT" charset="0"/>
              </a:rPr>
              <a:t>Makefile</a:t>
            </a:r>
            <a:r>
              <a:rPr lang="en-US" altLang="ja-JP" sz="1800">
                <a:latin typeface="ArialMT" charset="0"/>
              </a:rPr>
              <a:t>. 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endParaRPr lang="en-US" altLang="ja-JP" sz="1800">
              <a:latin typeface="ArialMT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D7D793C1-F562-4C43-B36C-DE524AEFD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Install Software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C2E03395-83C5-8743-A728-1C294D0E1B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98563" y="1600200"/>
            <a:ext cx="7419975" cy="45307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ja-JP" altLang="en-US" sz="2400" u="sng">
                <a:latin typeface="Helvetica-Bold" pitchFamily="2" charset="0"/>
              </a:rPr>
              <a:t> </a:t>
            </a:r>
            <a:r>
              <a:rPr lang="en-US" altLang="ja-JP" sz="2400" b="1" u="sng">
                <a:latin typeface="Helvetica-Bold" pitchFamily="2" charset="0"/>
              </a:rPr>
              <a:t>Commands</a:t>
            </a:r>
            <a:endParaRPr lang="en-US" altLang="ja-JP" sz="2400" b="1">
              <a:latin typeface="Helvetica-Bold" pitchFamily="2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ja-JP" sz="2000">
                <a:latin typeface="Helvetica-Bold" pitchFamily="2" charset="0"/>
              </a:rPr>
              <a:t> gzip		compress a file		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ja-JP" sz="2000">
                <a:latin typeface="Helvetica-Bold" pitchFamily="2" charset="0"/>
              </a:rPr>
              <a:t> gunzip		uncompress a file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ja-JP" sz="2000">
                <a:latin typeface="Helvetica-Bold" pitchFamily="2" charset="0"/>
              </a:rPr>
              <a:t> tar			archive or expand files 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ja-JP" sz="2000">
                <a:latin typeface="Helvetica-Bold" pitchFamily="2" charset="0"/>
              </a:rPr>
              <a:t> configure		create Makefile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ja-JP" sz="2000">
                <a:latin typeface="Helvetica-Bold" pitchFamily="2" charset="0"/>
              </a:rPr>
              <a:t> make		compile &amp; install software</a:t>
            </a:r>
            <a:endParaRPr lang="en-US" altLang="ja-JP" sz="2000" b="1">
              <a:latin typeface="Helvetica-Bold" pitchFamily="2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B798784F-BE4B-D04E-96B5-618A56F66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Install Software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02808203-C42E-7F44-8D92-D750AC23C4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98563" y="1600200"/>
            <a:ext cx="7419975" cy="4176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Example: parallel programming library installation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b="1"/>
              <a:t>		gunzip software.tar.gz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b="1"/>
              <a:t>		tar –xvf  software.tar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b="1"/>
              <a:t>		cd software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b="1"/>
              <a:t>		./install OR make all OR 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b="1"/>
              <a:t>		</a:t>
            </a:r>
            <a:endParaRPr lang="en-US" altLang="ja-JP" sz="1600" b="1">
              <a:latin typeface="Helvetica-Bold" pitchFamily="2" charset="0"/>
            </a:endParaRPr>
          </a:p>
        </p:txBody>
      </p:sp>
      <p:sp>
        <p:nvSpPr>
          <p:cNvPr id="58371" name="Rectangle 4">
            <a:extLst>
              <a:ext uri="{FF2B5EF4-FFF2-40B4-BE49-F238E27FC236}">
                <a16:creationId xmlns:a16="http://schemas.microsoft.com/office/drawing/2014/main" id="{2CCBCC6B-233B-844D-9189-EA576978E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286000"/>
            <a:ext cx="58674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7F06C0A4-7CEB-D646-A4AF-9FC1A2423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Foreground and Background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BB7B2C3C-BE60-8249-8F75-8C80684D9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8563" y="1825625"/>
            <a:ext cx="7342187" cy="41179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000"/>
              <a:t>Running job has two modes, “foreground” and “background”</a:t>
            </a:r>
          </a:p>
          <a:p>
            <a:pPr eaLnBrk="1" hangingPunct="1">
              <a:lnSpc>
                <a:spcPct val="80000"/>
              </a:lnSpc>
            </a:pPr>
            <a:endParaRPr lang="en-US" altLang="ja-JP" sz="2000"/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If program is running as “background”,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2000"/>
              <a:t>    	the program keeps running even after your session was closed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ja-JP" sz="2000"/>
          </a:p>
          <a:p>
            <a:pPr eaLnBrk="1" hangingPunct="1">
              <a:lnSpc>
                <a:spcPct val="80000"/>
              </a:lnSpc>
            </a:pPr>
            <a:r>
              <a:rPr lang="en-US" altLang="ja-JP" sz="2000"/>
              <a:t>If program is running as “foreground”,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2200"/>
              <a:t>	Ctrl-C	stop program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ja-JP" sz="2200"/>
              <a:t>	Ctrl-Z	let program background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DF032B83-CBC0-3642-B1CB-65654D84D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Foreground and Background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FDFF0CF1-8160-E342-BA71-48E4D61C9A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8563" y="1825625"/>
            <a:ext cx="7342187" cy="4117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 sz="2000"/>
              <a:t> </a:t>
            </a:r>
            <a:r>
              <a:rPr lang="en-US" altLang="ja-JP" sz="2000"/>
              <a:t>To run programs in background mode, use “&amp;”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/>
              <a:t>      [nomura@ssc-1]$ </a:t>
            </a:r>
            <a:r>
              <a:rPr lang="en-US" altLang="ja-JP" sz="2000" i="1"/>
              <a:t>command</a:t>
            </a:r>
            <a:r>
              <a:rPr lang="en-US" altLang="ja-JP" sz="2000"/>
              <a:t> &amp;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2000"/>
          </a:p>
          <a:p>
            <a:pPr eaLnBrk="1" hangingPunct="1">
              <a:lnSpc>
                <a:spcPct val="90000"/>
              </a:lnSpc>
            </a:pPr>
            <a:r>
              <a:rPr lang="en-US" altLang="ja-JP" sz="2000"/>
              <a:t>To get background job back into foreground mode, use “fg” command.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/>
              <a:t>	[nomura@ssc-1]$ fg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ja-JP" sz="1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ja-JP" altLang="en-US" sz="240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7D7737F8-E5CD-7C43-943B-0D5B112A6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Remote Login &amp; File Transfer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B7C547ED-0772-7947-9757-8143B72E75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4419600"/>
            <a:ext cx="4570413" cy="1828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000"/>
              <a:t>Client</a:t>
            </a:r>
          </a:p>
          <a:p>
            <a:pPr eaLnBrk="1" hangingPunct="1"/>
            <a:r>
              <a:rPr lang="en-US" altLang="ja-JP" sz="2000"/>
              <a:t> rsh &amp; rcp</a:t>
            </a:r>
          </a:p>
          <a:p>
            <a:pPr eaLnBrk="1" hangingPunct="1"/>
            <a:r>
              <a:rPr lang="en-US" altLang="ja-JP" sz="2000"/>
              <a:t> telnet &amp; ftp</a:t>
            </a:r>
          </a:p>
          <a:p>
            <a:pPr eaLnBrk="1" hangingPunct="1"/>
            <a:r>
              <a:rPr lang="en-US" altLang="ja-JP" sz="2000"/>
              <a:t> ssh &amp; scp</a:t>
            </a:r>
          </a:p>
          <a:p>
            <a:pPr eaLnBrk="1" hangingPunct="1">
              <a:buFont typeface="Wingdings" pitchFamily="2" charset="2"/>
              <a:buNone/>
            </a:pPr>
            <a:endParaRPr lang="ja-JP" altLang="en-US" sz="2000"/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19578647-08CE-ED4F-B83E-F78B787D9F9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38600" y="4441825"/>
            <a:ext cx="4114800" cy="1882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 sz="2400"/>
              <a:t>Server </a:t>
            </a:r>
          </a:p>
          <a:p>
            <a:pPr eaLnBrk="1" hangingPunct="1"/>
            <a:r>
              <a:rPr lang="en-US" altLang="ja-JP" sz="2400"/>
              <a:t>rshd</a:t>
            </a:r>
          </a:p>
          <a:p>
            <a:pPr eaLnBrk="1" hangingPunct="1"/>
            <a:r>
              <a:rPr lang="en-US" altLang="ja-JP" sz="2400"/>
              <a:t>telnetd &amp; ftpd</a:t>
            </a:r>
          </a:p>
          <a:p>
            <a:pPr eaLnBrk="1" hangingPunct="1"/>
            <a:r>
              <a:rPr lang="en-US" altLang="ja-JP" sz="2400"/>
              <a:t>sshd</a:t>
            </a:r>
            <a:endParaRPr lang="ja-JP" altLang="en-US" sz="2400"/>
          </a:p>
        </p:txBody>
      </p:sp>
      <p:sp>
        <p:nvSpPr>
          <p:cNvPr id="67588" name="Text Box 8">
            <a:extLst>
              <a:ext uri="{FF2B5EF4-FFF2-40B4-BE49-F238E27FC236}">
                <a16:creationId xmlns:a16="http://schemas.microsoft.com/office/drawing/2014/main" id="{E129BE82-DC3E-4043-B876-C487DFA07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46538"/>
            <a:ext cx="184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400" b="1" u="sng"/>
              <a:t>Commands</a:t>
            </a:r>
          </a:p>
        </p:txBody>
      </p:sp>
      <p:sp>
        <p:nvSpPr>
          <p:cNvPr id="67589" name="Text Box 9">
            <a:extLst>
              <a:ext uri="{FF2B5EF4-FFF2-40B4-BE49-F238E27FC236}">
                <a16:creationId xmlns:a16="http://schemas.microsoft.com/office/drawing/2014/main" id="{EDC677A3-6877-DC44-BEE4-566ABC7B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89113"/>
            <a:ext cx="6629400" cy="249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kumimoji="1" lang="en-US" altLang="en-US" sz="2400"/>
              <a:t> rshd, telnetd, ftpd, sshd are server program and provide similar services, remote login &amp; file transfer.</a:t>
            </a:r>
          </a:p>
          <a:p>
            <a:pPr eaLnBrk="1" hangingPunct="1">
              <a:buFontTx/>
              <a:buChar char="•"/>
            </a:pPr>
            <a:r>
              <a:rPr kumimoji="1" lang="en-US" altLang="en-US" sz="2400"/>
              <a:t> The major difference is </a:t>
            </a:r>
            <a:r>
              <a:rPr kumimoji="1" lang="en-US" altLang="en-US" sz="2400" u="sng"/>
              <a:t>security level</a:t>
            </a:r>
            <a:r>
              <a:rPr kumimoji="1" lang="en-US" altLang="en-US" sz="2400"/>
              <a:t>. </a:t>
            </a:r>
          </a:p>
          <a:p>
            <a:pPr eaLnBrk="1" hangingPunct="1"/>
            <a:r>
              <a:rPr kumimoji="1" lang="en-US" altLang="en-US" sz="2400"/>
              <a:t>	rshd &lt; telnetd + ftpd &lt; sshd</a:t>
            </a:r>
            <a:r>
              <a:rPr kumimoji="1" lang="en-US" altLang="en-US" sz="2000"/>
              <a:t> </a:t>
            </a:r>
          </a:p>
          <a:p>
            <a:pPr eaLnBrk="1" hangingPunct="1"/>
            <a:endParaRPr kumimoji="1" lang="en-US" altLang="en-US" sz="2000"/>
          </a:p>
          <a:p>
            <a:pPr eaLnBrk="1" hangingPunct="1">
              <a:buFontTx/>
              <a:buChar char="•"/>
            </a:pPr>
            <a:endParaRPr kumimoji="1" lang="en-US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B10E4BB9-6CE7-0843-A92C-B8DBB4C30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/>
              <a:t>Remote Login &amp; File Transfer</a:t>
            </a:r>
          </a:p>
        </p:txBody>
      </p:sp>
      <p:sp>
        <p:nvSpPr>
          <p:cNvPr id="68610" name="Text Box 5">
            <a:extLst>
              <a:ext uri="{FF2B5EF4-FFF2-40B4-BE49-F238E27FC236}">
                <a16:creationId xmlns:a16="http://schemas.microsoft.com/office/drawing/2014/main" id="{0D3747E3-14F7-9A4A-8105-B8847B4B0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75438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400" u="sng"/>
              <a:t>Remote login</a:t>
            </a:r>
            <a:r>
              <a:rPr lang="en-US" altLang="ja-JP" sz="2400"/>
              <a:t> &amp; </a:t>
            </a:r>
            <a:r>
              <a:rPr lang="en-US" altLang="ja-JP" sz="2400" u="sng"/>
              <a:t>file transfer</a:t>
            </a:r>
            <a:r>
              <a:rPr lang="en-US" altLang="ja-JP" sz="2400"/>
              <a:t> system are based on </a:t>
            </a:r>
            <a:r>
              <a:rPr lang="en-US" altLang="ja-JP" sz="2400" u="sng"/>
              <a:t>server and client</a:t>
            </a:r>
            <a:r>
              <a:rPr lang="en-US" altLang="ja-JP" sz="2400"/>
              <a:t> model. client program on your machine ask sever program certain service remote machine. </a:t>
            </a:r>
          </a:p>
          <a:p>
            <a:endParaRPr lang="en-US" altLang="ja-JP" sz="2400"/>
          </a:p>
          <a:p>
            <a:r>
              <a:rPr lang="en-US" altLang="ja-JP" sz="2400"/>
              <a:t>For example, telnet server provides remote login service. ftp server provides file transfer service. </a:t>
            </a:r>
          </a:p>
          <a:p>
            <a:endParaRPr lang="en-US" altLang="ja-JP" sz="2400"/>
          </a:p>
          <a:p>
            <a:r>
              <a:rPr lang="en-US" altLang="ja-JP" sz="2400"/>
              <a:t>Sample client programs;</a:t>
            </a:r>
          </a:p>
          <a:p>
            <a:r>
              <a:rPr lang="en-US" altLang="ja-JP" sz="2000"/>
              <a:t>	WS FTP		FTP client</a:t>
            </a:r>
          </a:p>
          <a:p>
            <a:r>
              <a:rPr lang="en-US" altLang="ja-JP" sz="2000"/>
              <a:t>	Internet Exploror	HTTP client</a:t>
            </a:r>
          </a:p>
          <a:p>
            <a:r>
              <a:rPr lang="en-US" altLang="ja-JP" sz="2000"/>
              <a:t>	Eudora			POP, SMTP client</a:t>
            </a:r>
            <a:endParaRPr lang="en-US" altLang="ja-JP" sz="2400"/>
          </a:p>
          <a:p>
            <a:endParaRPr lang="ja-JP" altLang="en-US" sz="1600" u="sng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E27572D9-8CE6-D949-9FBF-0E1DA7B70A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57400" y="1381125"/>
            <a:ext cx="6629400" cy="1725613"/>
          </a:xfrm>
        </p:spPr>
        <p:txBody>
          <a:bodyPr/>
          <a:lstStyle/>
          <a:p>
            <a:pPr eaLnBrk="1" hangingPunct="1"/>
            <a:r>
              <a:rPr lang="en-US" altLang="ja-JP"/>
              <a:t>Tutorial of Unix/Linux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69B35E88-081A-ED49-BC02-782074932A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16175" y="4032250"/>
            <a:ext cx="1301750" cy="5556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ja-JP"/>
              <a:t>END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3983</TotalTime>
  <Words>2488</Words>
  <Application>Microsoft Macintosh PowerPoint</Application>
  <PresentationFormat>On-screen Show (4:3)</PresentationFormat>
  <Paragraphs>414</Paragraphs>
  <Slides>40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ＭＳ Ｐゴシック</vt:lpstr>
      <vt:lpstr>Arial</vt:lpstr>
      <vt:lpstr>ArialMT</vt:lpstr>
      <vt:lpstr>Helvetica-Bold</vt:lpstr>
      <vt:lpstr>Times</vt:lpstr>
      <vt:lpstr>Times New Roman</vt:lpstr>
      <vt:lpstr>Verdana</vt:lpstr>
      <vt:lpstr>Wingdings</vt:lpstr>
      <vt:lpstr>Layers</vt:lpstr>
      <vt:lpstr>Outline</vt:lpstr>
      <vt:lpstr>Overview of Unix System</vt:lpstr>
      <vt:lpstr>Unix Overview (cont.)</vt:lpstr>
      <vt:lpstr>Unix Overview (cont.)</vt:lpstr>
      <vt:lpstr>Unix Overview (cont.)</vt:lpstr>
      <vt:lpstr>Unix Overview (cont.)</vt:lpstr>
      <vt:lpstr>Unix Overview (cont.)</vt:lpstr>
      <vt:lpstr>ENVIRONMENT</vt:lpstr>
      <vt:lpstr>EXAMPLES</vt:lpstr>
      <vt:lpstr>FILES EXECUTING ON STARTUP</vt:lpstr>
      <vt:lpstr>Unix Overview (cont.)</vt:lpstr>
      <vt:lpstr>Basic Commands</vt:lpstr>
      <vt:lpstr>Basic Commands</vt:lpstr>
      <vt:lpstr>Basic Commands</vt:lpstr>
      <vt:lpstr>Basic Commands</vt:lpstr>
      <vt:lpstr>Basic Commands</vt:lpstr>
      <vt:lpstr>Relative &amp; Absolute Path</vt:lpstr>
      <vt:lpstr>Absolute Path</vt:lpstr>
      <vt:lpstr>Relative Path</vt:lpstr>
      <vt:lpstr>Relative &amp; Absolute Path</vt:lpstr>
      <vt:lpstr>Redirect, Append and Pipe</vt:lpstr>
      <vt:lpstr>Redirect, Append and Pipe</vt:lpstr>
      <vt:lpstr>Redirect, Append and Pipe</vt:lpstr>
      <vt:lpstr>Sorting</vt:lpstr>
      <vt:lpstr>Redirect, Append and Pipe</vt:lpstr>
      <vt:lpstr>Wildcards</vt:lpstr>
      <vt:lpstr>Permission </vt:lpstr>
      <vt:lpstr>Permission </vt:lpstr>
      <vt:lpstr>Permission </vt:lpstr>
      <vt:lpstr>Process Management</vt:lpstr>
      <vt:lpstr>Process Management</vt:lpstr>
      <vt:lpstr>Process Management</vt:lpstr>
      <vt:lpstr>Install Software</vt:lpstr>
      <vt:lpstr>Install Software</vt:lpstr>
      <vt:lpstr>Install Software</vt:lpstr>
      <vt:lpstr>Foreground and Background</vt:lpstr>
      <vt:lpstr>Foreground and Background</vt:lpstr>
      <vt:lpstr>Remote Login &amp; File Transfer</vt:lpstr>
      <vt:lpstr>Remote Login &amp; File Transfer</vt:lpstr>
      <vt:lpstr>Tutorial of Unix/Linux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Commnads</dc:title>
  <dc:creator>Ken-ichi NOMURA</dc:creator>
  <cp:lastModifiedBy>Scott Kelley</cp:lastModifiedBy>
  <cp:revision>650</cp:revision>
  <cp:lastPrinted>2022-02-11T19:28:18Z</cp:lastPrinted>
  <dcterms:created xsi:type="dcterms:W3CDTF">2003-09-12T14:59:55Z</dcterms:created>
  <dcterms:modified xsi:type="dcterms:W3CDTF">2026-01-27T16:13:24Z</dcterms:modified>
</cp:coreProperties>
</file>