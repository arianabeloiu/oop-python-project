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71" r:id="rId3"/>
    <p:sldId id="329" r:id="rId4"/>
    <p:sldId id="260" r:id="rId5"/>
    <p:sldId id="328" r:id="rId6"/>
    <p:sldId id="258" r:id="rId7"/>
    <p:sldId id="265" r:id="rId8"/>
    <p:sldId id="288" r:id="rId9"/>
    <p:sldId id="268" r:id="rId10"/>
    <p:sldId id="269" r:id="rId11"/>
    <p:sldId id="295" r:id="rId12"/>
    <p:sldId id="266" r:id="rId13"/>
    <p:sldId id="277" r:id="rId14"/>
    <p:sldId id="276" r:id="rId15"/>
    <p:sldId id="327" r:id="rId16"/>
    <p:sldId id="312" r:id="rId17"/>
    <p:sldId id="314" r:id="rId18"/>
    <p:sldId id="313" r:id="rId19"/>
    <p:sldId id="315" r:id="rId20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712"/>
  </p:normalViewPr>
  <p:slideViewPr>
    <p:cSldViewPr>
      <p:cViewPr varScale="1">
        <p:scale>
          <a:sx n="97" d="100"/>
          <a:sy n="97" d="100"/>
        </p:scale>
        <p:origin x="88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1024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12CF498-9388-074D-B0DA-7428EF2110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C6D7B9-5200-D849-9065-9856B475FA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fld id="{1C4A34E2-FF26-E54F-B4FC-93642EBCA9D9}" type="datetimeFigureOut">
              <a:rPr lang="en-US"/>
              <a:pPr>
                <a:defRPr/>
              </a:pPr>
              <a:t>1/28/25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144DC1-545C-5F49-AF0E-4D7CD20E4F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BE01F5-BD40-A445-854E-9993FFCC589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97313" y="8829675"/>
            <a:ext cx="2982912" cy="4667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DDDBDD1B-2D04-8B4D-AA55-4F8871C7E0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3359EF6E-97E4-944A-808F-E645CCE76E5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defTabSz="923925" eaLnBrk="1" hangingPunct="1">
              <a:defRPr sz="1200">
                <a:latin typeface="Times New Roman" charset="0"/>
                <a:ea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B1C7362F-9AD0-9D41-87A2-2A9F4F424E0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200">
                <a:latin typeface="Times New Roman" charset="0"/>
                <a:ea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CA021C5C-4701-7245-9AA7-F5E2AD7B37E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9" name="Rectangle 5">
            <a:extLst>
              <a:ext uri="{FF2B5EF4-FFF2-40B4-BE49-F238E27FC236}">
                <a16:creationId xmlns:a16="http://schemas.microsoft.com/office/drawing/2014/main" id="{DDFC9B0F-E374-C544-9E9B-4087E18C462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7590" name="Rectangle 6">
            <a:extLst>
              <a:ext uri="{FF2B5EF4-FFF2-40B4-BE49-F238E27FC236}">
                <a16:creationId xmlns:a16="http://schemas.microsoft.com/office/drawing/2014/main" id="{57EE7D9D-2170-4C4E-8B6A-85102928653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defTabSz="923925" eaLnBrk="1" hangingPunct="1">
              <a:defRPr sz="1200">
                <a:latin typeface="Times New Roman" charset="0"/>
                <a:ea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7591" name="Rectangle 7">
            <a:extLst>
              <a:ext uri="{FF2B5EF4-FFF2-40B4-BE49-F238E27FC236}">
                <a16:creationId xmlns:a16="http://schemas.microsoft.com/office/drawing/2014/main" id="{6DB5AA45-2161-B34F-A5A4-C00846AB01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200" smtClean="0"/>
            </a:lvl1pPr>
          </a:lstStyle>
          <a:p>
            <a:pPr>
              <a:defRPr/>
            </a:pPr>
            <a:fld id="{2C1C598B-DF02-0646-9AA6-F99C0BE5A0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28CFBA35-BAF2-A94D-83F2-A27BB6B570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169ACA3-7B8A-AC48-8789-59963CC24694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6BED0D44-7452-5F47-B6E0-41BC30ECCD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15AE87D1-280D-0A41-8C28-3D7D228E89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05F64E7F-6904-AB4B-8A28-1B316B7783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D198B2C-79A7-C146-A1BB-905F944AFFDC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23C0F24E-0CA4-6E4D-AF2C-1A7889B3BE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61AA91A4-DF37-464B-8DE0-491865F670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117439E0-B3B8-0848-995B-D2C496B782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713CD4D-74A3-AF41-AEC6-59EA5F305BA1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7E0E8F61-EB73-AB47-9BD6-A6C866AFD5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DE4BEA6A-07F9-0C40-87A5-7C55D505C4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C5FD30E9-DB0C-B644-A779-7E9DFE7204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7B786F6-6517-C348-B9D7-1119EAF11031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77B3467A-1ADB-D546-9B9F-F21CBECD35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E5E015A3-ABD4-BC4E-ABD4-683A3C864C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Operating systems needed because without them there is inefficient use of resources.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CTSS (compatible time sharing system) was one of the first OSes, and MULTICs was to be a second generation OS.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MULTICS: Multi User file system from MIT/GE/Bell Labs, on expensive GE-645.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Introduced hierarchical file system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MULTICS died, but Thompson/Ritchie still wanted to play Space Pilot.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In order to do so, they decided to create a simplified version that would work on a PDP-7 that was laying around.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This led to a stripped down version of MULTICS called UNICS.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27EF4F19-D157-074D-8DCD-24D3FD686F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50D58AD-DBF4-CE49-9BD6-D451C83C3A3A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0C682423-F102-7840-AE54-1FC99B77CC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DEDDC309-8B58-6E44-B2E2-9CFE44D2B3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PDP7: 72K, 18 Bit, 120 made.  The OS that came with it was terrible.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PDP11: 1970, $10K, 16 bit, 600K+ made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C: Also a 3</a:t>
            </a:r>
            <a:r>
              <a:rPr lang="en-US" altLang="en-US" baseline="30000">
                <a:latin typeface="Times New Roman" panose="02020603050405020304" pitchFamily="18" charset="0"/>
                <a:ea typeface="ＭＳ Ｐゴシック" panose="020B0600070205080204" pitchFamily="34" charset="-128"/>
              </a:rPr>
              <a:t>rd</a:t>
            </a: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 generation system:  BCPL (Basic Combined Programming Language) (similar to fortran) -&gt; B (simplified) -&gt; C (cleaned up, more powerful)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Up until V7 (not including), classroom use was allowed.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841778C6-7B10-934C-BEE4-4027DA7790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924E100-6C43-8B4C-937D-E84098041EBF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76B0FABB-5533-1148-8681-54FB36628B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6149A8F2-635B-5D4D-9B02-581C40A0A3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9D028F9D-6E8E-BD41-9042-4A8366D02B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35E0E63-1DF0-364E-9349-D336A6592577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88562FBA-AEAB-7747-942A-22E25DA487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E9475C7B-9051-014D-B3F5-49FD95BDDF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Early eighties: lots of commercial spinoffs.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XENIX: Port for microcomputers by microsoft, but inadequate.  Sold to SCO after switch to QDOS (quick and dirty)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SUN: Bill Joy</a:t>
            </a:r>
            <a:r>
              <a:rPr lang="ja-JP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latin typeface="Times New Roman" panose="02020603050405020304" pitchFamily="18" charset="0"/>
                <a:ea typeface="ＭＳ Ｐゴシック" panose="020B0600070205080204" pitchFamily="34" charset="-128"/>
              </a:rPr>
              <a:t>s startup launched in 1982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SCO: One of the first (1978)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UnixWare: AT&amp;T</a:t>
            </a:r>
            <a:r>
              <a:rPr lang="ja-JP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latin typeface="Times New Roman" panose="02020603050405020304" pitchFamily="18" charset="0"/>
                <a:ea typeface="ＭＳ Ｐゴシック" panose="020B0600070205080204" pitchFamily="34" charset="-128"/>
              </a:rPr>
              <a:t>s.</a:t>
            </a:r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6A3BFAD0-DB9A-1946-9D1D-51196224CA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4E718C3-7C67-1347-B7BF-3E3176AFFFFD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C9D269D1-B7BC-A147-9875-F524EF3CC2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7599E27D-DBE0-CB45-BBE2-309C746531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GNU and BSD licenses have major differences.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463BAC5A-90B0-304B-83C3-0C32B2846E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E9DD936-2C2F-F949-A568-6DD4838E57C6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EBBABFC3-AB38-144E-A0CB-1175CE99B0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416BF012-9BA9-E348-805C-E506AEEE90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7274A30C-AFF5-3643-8981-E89C65548C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5D0231F-AA20-544B-8D2F-BA897A1A59F2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D534DEE6-E46C-5041-B93F-3D1C9BA62E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F59262B9-152B-D549-86C7-FAE9BB0154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Core Idea: #1</a:t>
            </a: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#2 is an example of #1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8DF630CC-9D8A-2544-BCB5-DAF7F240EA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51F1446-EA7B-8246-865A-914217237F0D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50CC5CF3-E041-864F-B6F7-65C3692007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29A69FF0-F44B-D545-87D5-C39F1FFB45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Example: Failure of ATARI 2600 move to ATARI 800 (hard (8K) so highly non portable)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592ADD09-A722-724D-A53C-1EA36100D2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A611952-F7EE-C24B-AE44-0C4E82DDABA0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13EB8FDB-3628-EA4C-B765-4C1673DF12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FA139D40-6471-294E-90F4-28DEBCDB2F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BDE7DB98-BCD1-3648-A0EB-95DE63D5D6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6187102-D431-7C4C-BBCE-18F1DFE83F25}" type="slidenum">
              <a:rPr lang="en-US" altLang="en-US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8866435F-E8B0-9846-8A0E-6709BA0E6E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C3398E9C-ED75-964A-AC15-B8A5787500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835B9378-C976-0144-99F9-1F1D315C55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6623354-C37F-9D44-A615-53B8E3E892FA}" type="slidenum">
              <a:rPr lang="en-US" altLang="en-US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C6755D75-31C0-4B4D-917B-A6FEE38B50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73D970AD-4CDE-8B43-8EB4-A5B31A499F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>
            <a:extLst>
              <a:ext uri="{FF2B5EF4-FFF2-40B4-BE49-F238E27FC236}">
                <a16:creationId xmlns:a16="http://schemas.microsoft.com/office/drawing/2014/main" id="{286FC972-8586-D842-9522-24E64A12DF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4895197-65F2-D947-BDED-FD1A66370EC3}" type="slidenum">
              <a:rPr lang="en-US" altLang="en-US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3158D235-61ED-0243-9D4E-908CB56260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C79F9E79-BF3D-3D4A-83E8-03F81137CA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>
            <a:extLst>
              <a:ext uri="{FF2B5EF4-FFF2-40B4-BE49-F238E27FC236}">
                <a16:creationId xmlns:a16="http://schemas.microsoft.com/office/drawing/2014/main" id="{186410EC-AFFC-4640-9397-C7AF273BF2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245F014-F0FC-274F-BE67-58C337257955}" type="slidenum">
              <a:rPr lang="en-US" altLang="en-US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6D81A6C6-62B8-A74F-8537-68271E0D4C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F2A96CF6-9DB4-8C48-A789-2AB2FFAD9A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41516DB-29EB-6B40-812C-11027DAC57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CA84839-9697-4C43-ABFD-D27EF6144B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48DE6FA-3743-894D-A62A-D4C433FFB2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267155-3293-534D-8053-2089FC6A7A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1296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659DA56-8255-3043-B61F-6021FFA247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383787C-793E-8948-818F-F4818CAB80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5085FCF-A151-4340-B0CE-04605BD3A3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80DBE7-7975-EC42-A4F5-BDAD9972D9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5868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E47947F-8E8F-914E-A911-E463AC94CB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0FBEA12-EECA-3047-BF86-4067CDD3A7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F3089D6-D020-4241-92F7-FF2CF864CA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5CE851-D17C-534F-91E3-8C58877590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3636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1AFDC6-7B11-664D-AF10-352C800527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1D8067-70BD-6940-878C-F5685CAFE0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B50374-3CED-F541-AA13-3A7AF3B1F3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09F11D-036C-8D48-A018-5C6B81BB545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8646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F24B783-8E69-7E44-8AC5-260232FDBB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ED53D41-6FD7-B14C-8679-66D1B320AA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1D68AFB-719D-A843-9E7C-78A3C1999C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9838D4-4C33-9C45-BD84-B449B772A0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8846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A41CEA6-5515-5145-BCB7-12D0C3613A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E8EC566-09B3-284F-8095-91384D83D5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DDA444-1432-4547-AC8D-22B15A50C3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8794D5-0A28-B945-96EB-2111697DAF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483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25BCB6B-D3AB-2741-9F57-EB8E4E588E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49E2BFA-3FBE-E24C-ACF1-35A285FB2B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52FB259-F9D4-5644-95AF-B40507E037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5BA7CC-F972-5B49-B6F5-DDCA5DBAB4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2876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50B5DD-922B-9647-A5CE-2A22A223E4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314AC8-F845-FF4C-8813-8BB447FE75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818D1F-F380-B048-96F8-B06D1C636E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D6D561-5BDD-8847-9146-8009F794D5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0370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7CE45E-0DA8-3C4C-8567-A48D209B2D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787AF4-6166-254D-B8A2-9B1741F999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1175A8-A02E-6F4C-8D53-847480672A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836834-8D54-FD4F-8B6D-3CDA8C7CAF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15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8E1A757-95B0-DE46-9C2A-62379FDD97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668771F-E8A1-4141-8C66-6A869D7308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BED5855-B1A5-934F-831E-561DCACA4A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A494C7-20B4-E34D-B1CE-1B0B92374B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6013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759EBFC-0643-3547-995E-C84D731CEB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1D32EC1-F5B4-CF4E-9867-A7AB13785A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0718108-0D60-4741-A6FF-5515504016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18167A-B4C6-A345-997D-5F5A419C1A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5474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CF19990-74DC-F241-83E2-B47C6D6A67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98E676E-F021-F749-AD18-34E7156C43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C8BE18E-ADA6-4C4D-9D50-B0F082D2203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Times New Roman" charset="0"/>
                <a:ea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3F44FEF-3C7D-DC4D-B2B5-16508DB98DF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imes New Roman" charset="0"/>
                <a:ea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1513877-B1AF-F14B-B9D2-917228B9888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D2C0954E-01FE-A84F-A2B1-3A7098E5657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Impact" charset="0"/>
          <a:ea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Impact" charset="0"/>
          <a:ea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Impact" charset="0"/>
          <a:ea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Impact" charset="0"/>
          <a:ea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Impact" charset="0"/>
          <a:ea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Impact" charset="0"/>
          <a:ea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Impact" charset="0"/>
          <a:ea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Impact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www.codepuppet.com/2012/06/08/directory-structure-in-linux/" TargetMode="Externa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E4A8F4E1-1643-7C4B-B59A-4AD79FDB2DA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UNIX Tools Lecture 1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89936261-E677-E34D-A015-A76CF6B59A2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Mission: </a:t>
            </a:r>
            <a:r>
              <a:rPr lang="en-US" altLang="en-US" dirty="0" err="1"/>
              <a:t>Nerdification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80F9365B-A4A1-1C4C-AA04-78CC429A9F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What will we cover?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AF00ED45-8422-264B-852C-9D9FB06270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UNIX history</a:t>
            </a:r>
          </a:p>
          <a:p>
            <a:pPr eaLnBrk="1" hangingPunct="1"/>
            <a:r>
              <a:rPr lang="en-US" altLang="en-US" dirty="0"/>
              <a:t>Linux: The open-source </a:t>
            </a:r>
            <a:r>
              <a:rPr lang="en-US" altLang="en-US" dirty="0" err="1"/>
              <a:t>verison</a:t>
            </a:r>
            <a:endParaRPr lang="en-US" altLang="en-US" dirty="0"/>
          </a:p>
          <a:p>
            <a:pPr eaLnBrk="1" hangingPunct="1"/>
            <a:r>
              <a:rPr lang="en-US" altLang="en-US" dirty="0"/>
              <a:t>Advantages of UNIX/Linux</a:t>
            </a:r>
          </a:p>
          <a:p>
            <a:pPr eaLnBrk="1" hangingPunct="1"/>
            <a:r>
              <a:rPr lang="en-US" altLang="en-US" dirty="0"/>
              <a:t>Operating system overview</a:t>
            </a:r>
          </a:p>
          <a:p>
            <a:pPr eaLnBrk="1" hangingPunct="1"/>
            <a:r>
              <a:rPr lang="en-US" altLang="en-US" dirty="0"/>
              <a:t>UNIX/Linux utilities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AA640-493B-F7C3-984B-D570DD450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CE917-2DC8-A23B-8326-BBB022EBF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Suite of programs that run the computer.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Applications are programs that interact with the operating software.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chemeClr val="accent2"/>
                </a:solidFill>
              </a:rPr>
              <a:t>Gedankenexperiment: </a:t>
            </a:r>
            <a:r>
              <a:rPr lang="en-US" dirty="0"/>
              <a:t>How does a Spreadsheet program interact with the hardware?</a:t>
            </a:r>
          </a:p>
        </p:txBody>
      </p:sp>
    </p:spTree>
    <p:extLst>
      <p:ext uri="{BB962C8B-B14F-4D97-AF65-F5344CB8AC3E}">
        <p14:creationId xmlns:p14="http://schemas.microsoft.com/office/powerpoint/2010/main" val="1027174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8356C717-2062-2E45-8E25-DA93571898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Our Heroes</a:t>
            </a:r>
          </a:p>
        </p:txBody>
      </p:sp>
      <p:pic>
        <p:nvPicPr>
          <p:cNvPr id="19458" name="Picture 3" descr="unixrichiethompson[1]">
            <a:extLst>
              <a:ext uri="{FF2B5EF4-FFF2-40B4-BE49-F238E27FC236}">
                <a16:creationId xmlns:a16="http://schemas.microsoft.com/office/drawing/2014/main" id="{959BC57E-D585-9E48-853B-13FAE4587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4025" y="1371600"/>
            <a:ext cx="5694363" cy="369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AutoShape 7">
            <a:extLst>
              <a:ext uri="{FF2B5EF4-FFF2-40B4-BE49-F238E27FC236}">
                <a16:creationId xmlns:a16="http://schemas.microsoft.com/office/drawing/2014/main" id="{0EC4A18D-8E41-3B42-BF17-1B520C5D7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57200"/>
            <a:ext cx="838200" cy="83820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5037 w 21600"/>
              <a:gd name="T13" fmla="*/ 2277 h 21600"/>
              <a:gd name="T14" fmla="*/ 16557 w 21600"/>
              <a:gd name="T15" fmla="*/ 136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860" y="2187"/>
                </a:moveTo>
                <a:cubicBezTo>
                  <a:pt x="10451" y="1746"/>
                  <a:pt x="9529" y="1018"/>
                  <a:pt x="9015" y="730"/>
                </a:cubicBezTo>
                <a:cubicBezTo>
                  <a:pt x="7865" y="152"/>
                  <a:pt x="6685" y="0"/>
                  <a:pt x="5415" y="0"/>
                </a:cubicBezTo>
                <a:cubicBezTo>
                  <a:pt x="4175" y="152"/>
                  <a:pt x="2995" y="575"/>
                  <a:pt x="1967" y="1305"/>
                </a:cubicBezTo>
                <a:cubicBezTo>
                  <a:pt x="1150" y="2187"/>
                  <a:pt x="575" y="3222"/>
                  <a:pt x="242" y="4220"/>
                </a:cubicBezTo>
                <a:cubicBezTo>
                  <a:pt x="0" y="5410"/>
                  <a:pt x="242" y="6560"/>
                  <a:pt x="575" y="7597"/>
                </a:cubicBezTo>
                <a:lnTo>
                  <a:pt x="10860" y="21600"/>
                </a:lnTo>
                <a:lnTo>
                  <a:pt x="20995" y="7597"/>
                </a:lnTo>
                <a:cubicBezTo>
                  <a:pt x="21480" y="6560"/>
                  <a:pt x="21600" y="5410"/>
                  <a:pt x="21480" y="4220"/>
                </a:cubicBezTo>
                <a:cubicBezTo>
                  <a:pt x="21115" y="3222"/>
                  <a:pt x="20420" y="2187"/>
                  <a:pt x="19632" y="1305"/>
                </a:cubicBezTo>
                <a:cubicBezTo>
                  <a:pt x="18575" y="575"/>
                  <a:pt x="17425" y="152"/>
                  <a:pt x="16275" y="0"/>
                </a:cubicBezTo>
                <a:cubicBezTo>
                  <a:pt x="15005" y="0"/>
                  <a:pt x="13735" y="152"/>
                  <a:pt x="12705" y="730"/>
                </a:cubicBezTo>
                <a:cubicBezTo>
                  <a:pt x="12176" y="1018"/>
                  <a:pt x="11254" y="1746"/>
                  <a:pt x="10860" y="2187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0" name="AutoShape 8">
            <a:extLst>
              <a:ext uri="{FF2B5EF4-FFF2-40B4-BE49-F238E27FC236}">
                <a16:creationId xmlns:a16="http://schemas.microsoft.com/office/drawing/2014/main" id="{8F6AA2DE-50A7-0B49-9746-09B7A9FB2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533400"/>
            <a:ext cx="838200" cy="83820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5037 w 21600"/>
              <a:gd name="T13" fmla="*/ 2277 h 21600"/>
              <a:gd name="T14" fmla="*/ 16557 w 21600"/>
              <a:gd name="T15" fmla="*/ 136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860" y="2187"/>
                </a:moveTo>
                <a:cubicBezTo>
                  <a:pt x="10451" y="1746"/>
                  <a:pt x="9529" y="1018"/>
                  <a:pt x="9015" y="730"/>
                </a:cubicBezTo>
                <a:cubicBezTo>
                  <a:pt x="7865" y="152"/>
                  <a:pt x="6685" y="0"/>
                  <a:pt x="5415" y="0"/>
                </a:cubicBezTo>
                <a:cubicBezTo>
                  <a:pt x="4175" y="152"/>
                  <a:pt x="2995" y="575"/>
                  <a:pt x="1967" y="1305"/>
                </a:cubicBezTo>
                <a:cubicBezTo>
                  <a:pt x="1150" y="2187"/>
                  <a:pt x="575" y="3222"/>
                  <a:pt x="242" y="4220"/>
                </a:cubicBezTo>
                <a:cubicBezTo>
                  <a:pt x="0" y="5410"/>
                  <a:pt x="242" y="6560"/>
                  <a:pt x="575" y="7597"/>
                </a:cubicBezTo>
                <a:lnTo>
                  <a:pt x="10860" y="21600"/>
                </a:lnTo>
                <a:lnTo>
                  <a:pt x="20995" y="7597"/>
                </a:lnTo>
                <a:cubicBezTo>
                  <a:pt x="21480" y="6560"/>
                  <a:pt x="21600" y="5410"/>
                  <a:pt x="21480" y="4220"/>
                </a:cubicBezTo>
                <a:cubicBezTo>
                  <a:pt x="21115" y="3222"/>
                  <a:pt x="20420" y="2187"/>
                  <a:pt x="19632" y="1305"/>
                </a:cubicBezTo>
                <a:cubicBezTo>
                  <a:pt x="18575" y="575"/>
                  <a:pt x="17425" y="152"/>
                  <a:pt x="16275" y="0"/>
                </a:cubicBezTo>
                <a:cubicBezTo>
                  <a:pt x="15005" y="0"/>
                  <a:pt x="13735" y="152"/>
                  <a:pt x="12705" y="730"/>
                </a:cubicBezTo>
                <a:cubicBezTo>
                  <a:pt x="12176" y="1018"/>
                  <a:pt x="11254" y="1746"/>
                  <a:pt x="10860" y="2187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1" name="Text Box 9">
            <a:extLst>
              <a:ext uri="{FF2B5EF4-FFF2-40B4-BE49-F238E27FC236}">
                <a16:creationId xmlns:a16="http://schemas.microsoft.com/office/drawing/2014/main" id="{07A67F81-7637-5B43-ADF4-8FC0A75AFA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186238"/>
            <a:ext cx="3429000" cy="106203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Ken Thompson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Wrote first Unix Assembly language on PDP-7</a:t>
            </a:r>
          </a:p>
        </p:txBody>
      </p:sp>
      <p:sp>
        <p:nvSpPr>
          <p:cNvPr id="19462" name="Text Box 10">
            <a:extLst>
              <a:ext uri="{FF2B5EF4-FFF2-40B4-BE49-F238E27FC236}">
                <a16:creationId xmlns:a16="http://schemas.microsoft.com/office/drawing/2014/main" id="{00D2D4F4-D855-3845-9008-C6B4C7304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4186238"/>
            <a:ext cx="2667000" cy="106203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Dennis Ritchie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/>
              <a:t>Created C programming lang and worked on Unix</a:t>
            </a:r>
          </a:p>
        </p:txBody>
      </p:sp>
      <p:pic>
        <p:nvPicPr>
          <p:cNvPr id="19463" name="Picture 1">
            <a:extLst>
              <a:ext uri="{FF2B5EF4-FFF2-40B4-BE49-F238E27FC236}">
                <a16:creationId xmlns:a16="http://schemas.microsoft.com/office/drawing/2014/main" id="{BD881C4C-E32D-9248-BE54-6C09C6DCF7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5318125"/>
            <a:ext cx="741680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02FFB04-C775-884C-8572-BB966AE0FC9F}"/>
              </a:ext>
            </a:extLst>
          </p:cNvPr>
          <p:cNvSpPr/>
          <p:nvPr/>
        </p:nvSpPr>
        <p:spPr>
          <a:xfrm>
            <a:off x="2133600" y="5867400"/>
            <a:ext cx="533400" cy="381000"/>
          </a:xfrm>
          <a:prstGeom prst="rect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n w="38100">
                <a:solidFill>
                  <a:schemeClr val="tx1"/>
                </a:solidFill>
              </a:ln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5" name="Picture 2">
            <a:extLst>
              <a:ext uri="{FF2B5EF4-FFF2-40B4-BE49-F238E27FC236}">
                <a16:creationId xmlns:a16="http://schemas.microsoft.com/office/drawing/2014/main" id="{E85EB645-EA14-954D-B508-8E9ED1FE5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0" y="325416"/>
            <a:ext cx="4305300" cy="6478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6" name="Picture 2">
            <a:extLst>
              <a:ext uri="{FF2B5EF4-FFF2-40B4-BE49-F238E27FC236}">
                <a16:creationId xmlns:a16="http://schemas.microsoft.com/office/drawing/2014/main" id="{62B2E589-16DC-9540-A9D7-115CC026D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57200"/>
            <a:ext cx="3029011" cy="329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C9AC238-2867-534B-9C51-95BEC2174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430" y="4043363"/>
            <a:ext cx="3566589" cy="21624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65613D0A-C935-3548-AEEE-4308D4B1C3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5963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Video Games Spark Innovation</a:t>
            </a:r>
          </a:p>
        </p:txBody>
      </p:sp>
      <p:pic>
        <p:nvPicPr>
          <p:cNvPr id="22530" name="Picture 3" descr="spacewar-fig3[1]">
            <a:extLst>
              <a:ext uri="{FF2B5EF4-FFF2-40B4-BE49-F238E27FC236}">
                <a16:creationId xmlns:a16="http://schemas.microsoft.com/office/drawing/2014/main" id="{A1744454-B20D-7F4F-9595-DC216E07F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8" y="1447800"/>
            <a:ext cx="3462845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Text Box 5">
            <a:extLst>
              <a:ext uri="{FF2B5EF4-FFF2-40B4-BE49-F238E27FC236}">
                <a16:creationId xmlns:a16="http://schemas.microsoft.com/office/drawing/2014/main" id="{1826E28E-87C9-574F-93C4-221710FC5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049" y="5014804"/>
            <a:ext cx="3008821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400" i="1" dirty="0"/>
              <a:t>Space Travel</a:t>
            </a:r>
            <a:r>
              <a:rPr lang="en-US" altLang="en-US" sz="2400" dirty="0"/>
              <a:t>: Ken Thompson (Bell Labs)</a:t>
            </a:r>
          </a:p>
        </p:txBody>
      </p:sp>
      <p:sp>
        <p:nvSpPr>
          <p:cNvPr id="22532" name="Text Box 6">
            <a:extLst>
              <a:ext uri="{FF2B5EF4-FFF2-40B4-BE49-F238E27FC236}">
                <a16:creationId xmlns:a16="http://schemas.microsoft.com/office/drawing/2014/main" id="{FE9DDFAC-6740-3846-AE5A-E8F33A4338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4025" y="5418138"/>
            <a:ext cx="49530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/>
              <a:t>PDP-7 “Mini-computer”: The ORIGINAL Personal computer 1965</a:t>
            </a:r>
          </a:p>
        </p:txBody>
      </p:sp>
      <p:pic>
        <p:nvPicPr>
          <p:cNvPr id="22533" name="Picture 7">
            <a:extLst>
              <a:ext uri="{FF2B5EF4-FFF2-40B4-BE49-F238E27FC236}">
                <a16:creationId xmlns:a16="http://schemas.microsoft.com/office/drawing/2014/main" id="{BC49DA77-AE3B-3240-8F70-EBD487CF34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2825" y="990600"/>
            <a:ext cx="56896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B71261AA-9004-8A42-9FAC-F11F2EE4BA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400" y="609600"/>
            <a:ext cx="6019800" cy="1143000"/>
          </a:xfrm>
        </p:spPr>
        <p:txBody>
          <a:bodyPr/>
          <a:lstStyle/>
          <a:p>
            <a:pPr eaLnBrk="1" hangingPunct="1"/>
            <a:r>
              <a:rPr lang="en-US" altLang="en-US"/>
              <a:t>In the Beginning</a:t>
            </a:r>
          </a:p>
        </p:txBody>
      </p:sp>
      <p:sp>
        <p:nvSpPr>
          <p:cNvPr id="24578" name="Rectangle 4">
            <a:extLst>
              <a:ext uri="{FF2B5EF4-FFF2-40B4-BE49-F238E27FC236}">
                <a16:creationId xmlns:a16="http://schemas.microsoft.com/office/drawing/2014/main" id="{0F26EDEF-C93A-B649-812A-A3C1EE07EB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28838" y="1600200"/>
            <a:ext cx="7162800" cy="4191000"/>
          </a:xfrm>
        </p:spPr>
        <p:txBody>
          <a:bodyPr/>
          <a:lstStyle/>
          <a:p>
            <a:pPr eaLnBrk="1" hangingPunct="1"/>
            <a:r>
              <a:rPr lang="en-US" altLang="en-US" dirty="0"/>
              <a:t>UNICS*: 1969 – PDP-7 minicomputer</a:t>
            </a:r>
          </a:p>
          <a:p>
            <a:pPr lvl="1" eaLnBrk="1" hangingPunct="1"/>
            <a:r>
              <a:rPr lang="en-US" altLang="en-US" dirty="0"/>
              <a:t>Changed to UNIX</a:t>
            </a:r>
          </a:p>
          <a:p>
            <a:pPr eaLnBrk="1" hangingPunct="1"/>
            <a:r>
              <a:rPr lang="en-US" altLang="en-US" dirty="0"/>
              <a:t>PDP-7 goes away, rewritten on PDP-11 to </a:t>
            </a:r>
            <a:r>
              <a:rPr lang="ja-JP" altLang="en-US">
                <a:latin typeface="Arial" panose="020B0604020202020204" pitchFamily="34" charset="0"/>
              </a:rPr>
              <a:t>“</a:t>
            </a:r>
            <a:r>
              <a:rPr lang="en-US" altLang="ja-JP" dirty="0"/>
              <a:t>help patent lawyers</a:t>
            </a:r>
            <a:r>
              <a:rPr lang="ja-JP" altLang="en-US">
                <a:latin typeface="Arial" panose="020B0604020202020204" pitchFamily="34" charset="0"/>
              </a:rPr>
              <a:t>”</a:t>
            </a:r>
            <a:endParaRPr lang="en-US" altLang="ja-JP" dirty="0"/>
          </a:p>
          <a:p>
            <a:pPr eaLnBrk="1" hangingPunct="1"/>
            <a:r>
              <a:rPr lang="en-US" altLang="en-US" dirty="0"/>
              <a:t>V1: 1971</a:t>
            </a:r>
          </a:p>
          <a:p>
            <a:pPr eaLnBrk="1" hangingPunct="1"/>
            <a:r>
              <a:rPr lang="en-US" altLang="en-US" dirty="0"/>
              <a:t>V3: 1973 (pipes, C language)</a:t>
            </a:r>
          </a:p>
          <a:p>
            <a:pPr eaLnBrk="1" hangingPunct="1"/>
            <a:r>
              <a:rPr lang="en-US" altLang="en-US" b="1" dirty="0"/>
              <a:t>V6</a:t>
            </a:r>
            <a:r>
              <a:rPr lang="en-US" altLang="en-US" dirty="0"/>
              <a:t>: 1976 (rewritten in C, base for BSD)</a:t>
            </a:r>
          </a:p>
          <a:p>
            <a:pPr eaLnBrk="1" hangingPunct="1"/>
            <a:r>
              <a:rPr lang="en-US" altLang="en-US" dirty="0"/>
              <a:t>V7: 1979 (Licensed, portable)</a:t>
            </a:r>
          </a:p>
        </p:txBody>
      </p:sp>
      <p:pic>
        <p:nvPicPr>
          <p:cNvPr id="24579" name="Picture 3" descr="pdp11[1]">
            <a:extLst>
              <a:ext uri="{FF2B5EF4-FFF2-40B4-BE49-F238E27FC236}">
                <a16:creationId xmlns:a16="http://schemas.microsoft.com/office/drawing/2014/main" id="{743CC22F-5B51-3348-B5FD-0EE3ACB0D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38200"/>
            <a:ext cx="1793875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Text Box 5">
            <a:extLst>
              <a:ext uri="{FF2B5EF4-FFF2-40B4-BE49-F238E27FC236}">
                <a16:creationId xmlns:a16="http://schemas.microsoft.com/office/drawing/2014/main" id="{6539E958-F8F8-1149-909F-FC89166EF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64008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/>
              <a:t>PDP-11</a:t>
            </a:r>
          </a:p>
        </p:txBody>
      </p:sp>
      <p:sp>
        <p:nvSpPr>
          <p:cNvPr id="24581" name="TextBox 1">
            <a:extLst>
              <a:ext uri="{FF2B5EF4-FFF2-40B4-BE49-F238E27FC236}">
                <a16:creationId xmlns:a16="http://schemas.microsoft.com/office/drawing/2014/main" id="{C99B2C35-AEEC-3342-9167-A2A3018A7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6276975"/>
            <a:ext cx="61896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dirty="0"/>
              <a:t>*</a:t>
            </a:r>
            <a:r>
              <a:rPr lang="en-US" altLang="en-US" i="1" dirty="0" err="1">
                <a:highlight>
                  <a:srgbClr val="FFFF00"/>
                </a:highlight>
              </a:rPr>
              <a:t>Uniplexed</a:t>
            </a:r>
            <a:r>
              <a:rPr lang="en-US" altLang="en-US" i="1" dirty="0">
                <a:highlight>
                  <a:srgbClr val="FFFF00"/>
                </a:highlight>
              </a:rPr>
              <a:t> Information and Computing Service</a:t>
            </a:r>
            <a:r>
              <a:rPr lang="en-US" altLang="en-US" dirty="0">
                <a:highlight>
                  <a:srgbClr val="FFFF00"/>
                </a:highlight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5" name="Picture 5" descr="pdp11-unix">
            <a:extLst>
              <a:ext uri="{FF2B5EF4-FFF2-40B4-BE49-F238E27FC236}">
                <a16:creationId xmlns:a16="http://schemas.microsoft.com/office/drawing/2014/main" id="{9197D93A-5EC0-E747-A420-2C7C43300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57200"/>
            <a:ext cx="7451725" cy="596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13A2A982-C1C6-E147-B9FE-52F73D6457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Commercial Success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D9A6FECA-A20D-F54A-95FA-86BB3AAB48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458200" cy="4724400"/>
          </a:xfrm>
        </p:spPr>
        <p:txBody>
          <a:bodyPr/>
          <a:lstStyle/>
          <a:p>
            <a:pPr eaLnBrk="1" hangingPunct="1"/>
            <a:r>
              <a:rPr lang="en-US" altLang="en-US" dirty="0"/>
              <a:t>AIX</a:t>
            </a:r>
          </a:p>
          <a:p>
            <a:pPr eaLnBrk="1" hangingPunct="1"/>
            <a:r>
              <a:rPr lang="en-US" altLang="en-US" dirty="0"/>
              <a:t>SunOS, Solaris</a:t>
            </a:r>
          </a:p>
          <a:p>
            <a:pPr eaLnBrk="1" hangingPunct="1"/>
            <a:r>
              <a:rPr lang="en-US" altLang="en-US" dirty="0"/>
              <a:t>Ultrix, Digital Unix</a:t>
            </a:r>
          </a:p>
          <a:p>
            <a:pPr eaLnBrk="1" hangingPunct="1"/>
            <a:r>
              <a:rPr lang="en-US" altLang="en-US" dirty="0"/>
              <a:t>HP-UX</a:t>
            </a:r>
          </a:p>
          <a:p>
            <a:pPr eaLnBrk="1" hangingPunct="1"/>
            <a:r>
              <a:rPr lang="en-US" altLang="en-US" dirty="0" err="1"/>
              <a:t>Irix</a:t>
            </a:r>
            <a:endParaRPr lang="en-US" altLang="en-US" dirty="0"/>
          </a:p>
          <a:p>
            <a:pPr eaLnBrk="1" hangingPunct="1"/>
            <a:r>
              <a:rPr lang="en-US" altLang="en-US" dirty="0"/>
              <a:t>UnixWare -&gt; Novell -&gt; SCO -&gt; Caldera -&gt;SCO</a:t>
            </a:r>
          </a:p>
          <a:p>
            <a:pPr eaLnBrk="1" hangingPunct="1"/>
            <a:r>
              <a:rPr lang="en-US" altLang="en-US" dirty="0" err="1"/>
              <a:t>Xenix</a:t>
            </a:r>
            <a:r>
              <a:rPr lang="en-US" altLang="en-US" dirty="0"/>
              <a:t>:                       -&gt; SCO</a:t>
            </a:r>
          </a:p>
          <a:p>
            <a:pPr eaLnBrk="1" hangingPunct="1"/>
            <a:r>
              <a:rPr lang="en-US" altLang="en-US" dirty="0"/>
              <a:t>Red Hat -&gt; IBM</a:t>
            </a:r>
          </a:p>
        </p:txBody>
      </p:sp>
      <p:pic>
        <p:nvPicPr>
          <p:cNvPr id="28675" name="Picture 4" descr="logo_specials_hp[1]">
            <a:extLst>
              <a:ext uri="{FF2B5EF4-FFF2-40B4-BE49-F238E27FC236}">
                <a16:creationId xmlns:a16="http://schemas.microsoft.com/office/drawing/2014/main" id="{FB50A6C5-D443-E74B-825E-B51C6D65C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352800"/>
            <a:ext cx="8350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6" name="Picture 5" descr="logo_specials_compaq[1]">
            <a:extLst>
              <a:ext uri="{FF2B5EF4-FFF2-40B4-BE49-F238E27FC236}">
                <a16:creationId xmlns:a16="http://schemas.microsoft.com/office/drawing/2014/main" id="{C376FA7B-8BFD-C448-9E64-87CBE2840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971800"/>
            <a:ext cx="1292225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7" name="Picture 6" descr="logo_specials_ibm[1]">
            <a:extLst>
              <a:ext uri="{FF2B5EF4-FFF2-40B4-BE49-F238E27FC236}">
                <a16:creationId xmlns:a16="http://schemas.microsoft.com/office/drawing/2014/main" id="{DD8544CD-A050-5644-A970-D9590A20F6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676400"/>
            <a:ext cx="9826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8" name="Picture 7" descr="logo_specials_sun[1]">
            <a:extLst>
              <a:ext uri="{FF2B5EF4-FFF2-40B4-BE49-F238E27FC236}">
                <a16:creationId xmlns:a16="http://schemas.microsoft.com/office/drawing/2014/main" id="{224C82FA-C2C6-254A-B8A4-2C3D5CC0D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133600"/>
            <a:ext cx="1292225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9" name="Picture 8" descr="sgi_logo_us[1]">
            <a:extLst>
              <a:ext uri="{FF2B5EF4-FFF2-40B4-BE49-F238E27FC236}">
                <a16:creationId xmlns:a16="http://schemas.microsoft.com/office/drawing/2014/main" id="{8E93E00F-4458-524D-867D-3D71805FF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77" t="16872" r="25909" b="24078"/>
          <a:stretch>
            <a:fillRect/>
          </a:stretch>
        </p:blipFill>
        <p:spPr bwMode="auto">
          <a:xfrm>
            <a:off x="1447800" y="3962400"/>
            <a:ext cx="838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0" name="Picture 9" descr="mslogo-blue">
            <a:extLst>
              <a:ext uri="{FF2B5EF4-FFF2-40B4-BE49-F238E27FC236}">
                <a16:creationId xmlns:a16="http://schemas.microsoft.com/office/drawing/2014/main" id="{12E44673-DC4B-C947-A675-4F3A40008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000"/>
          <a:stretch>
            <a:fillRect/>
          </a:stretch>
        </p:blipFill>
        <p:spPr bwMode="auto">
          <a:xfrm>
            <a:off x="2057400" y="5029200"/>
            <a:ext cx="2057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1" name="Picture 5" descr="daemon2[1]">
            <a:extLst>
              <a:ext uri="{FF2B5EF4-FFF2-40B4-BE49-F238E27FC236}">
                <a16:creationId xmlns:a16="http://schemas.microsoft.com/office/drawing/2014/main" id="{008F621A-7C9A-8B4C-B83F-6715BB48D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" y="4343400"/>
            <a:ext cx="193675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2" name="Rectangle 2">
            <a:extLst>
              <a:ext uri="{FF2B5EF4-FFF2-40B4-BE49-F238E27FC236}">
                <a16:creationId xmlns:a16="http://schemas.microsoft.com/office/drawing/2014/main" id="{B9EE8BE0-625A-EB48-9CD6-4F8C48D381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Send in the Clones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4A153C0-D1E2-CD40-BA08-727DEFDA41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659835"/>
            <a:ext cx="64770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Linux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Written in 1991 by Linus Torvalds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Most popular UNIX variant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Free with GNU license</a:t>
            </a: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BSD Lite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FreeBSD (1993, focus on PCs)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NetBSD (1993, focus on portability)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OpenBSD (1996, focus on security)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Free with BSD license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Development less centralized</a:t>
            </a:r>
          </a:p>
        </p:txBody>
      </p:sp>
      <p:pic>
        <p:nvPicPr>
          <p:cNvPr id="30724" name="Picture 4" descr="officialpenguin[1]">
            <a:extLst>
              <a:ext uri="{FF2B5EF4-FFF2-40B4-BE49-F238E27FC236}">
                <a16:creationId xmlns:a16="http://schemas.microsoft.com/office/drawing/2014/main" id="{C5F65C37-1D9C-FF42-854C-B8FCF276E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" y="1856961"/>
            <a:ext cx="1550988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CB688E32-045C-9D4D-96ED-2C468CD899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Darwin</a:t>
            </a:r>
          </a:p>
        </p:txBody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D433C77B-E55B-B44D-8AE7-D97BDFAC19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799" y="17526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dirty="0"/>
              <a:t>Apple abandoned old Mac OS for UNIX</a:t>
            </a:r>
          </a:p>
          <a:p>
            <a:pPr lvl="1" eaLnBrk="1" hangingPunct="1"/>
            <a:r>
              <a:rPr lang="en-US" altLang="en-US" dirty="0"/>
              <a:t>Purchased NeXT in December 1996</a:t>
            </a:r>
          </a:p>
          <a:p>
            <a:pPr lvl="1" eaLnBrk="1" hangingPunct="1"/>
            <a:r>
              <a:rPr lang="en-US" altLang="en-US" dirty="0"/>
              <a:t>Unveiled in 2000</a:t>
            </a:r>
          </a:p>
          <a:p>
            <a:pPr lvl="1" eaLnBrk="1" hangingPunct="1"/>
            <a:r>
              <a:rPr lang="en-US" altLang="en-US" dirty="0"/>
              <a:t>Based on 4.4BSD-Lite</a:t>
            </a:r>
          </a:p>
          <a:p>
            <a:pPr lvl="1" eaLnBrk="1" hangingPunct="1"/>
            <a:r>
              <a:rPr lang="en-US" altLang="en-US" dirty="0"/>
              <a:t>Open Source</a:t>
            </a:r>
          </a:p>
          <a:p>
            <a:pPr lvl="1" eaLnBrk="1" hangingPunct="1"/>
            <a:r>
              <a:rPr lang="en-US" altLang="en-US" dirty="0"/>
              <a:t>YOUR MAC IS A LINUX MACHINE</a:t>
            </a:r>
          </a:p>
        </p:txBody>
      </p:sp>
      <p:pic>
        <p:nvPicPr>
          <p:cNvPr id="34819" name="Picture 5" descr="darwin">
            <a:extLst>
              <a:ext uri="{FF2B5EF4-FFF2-40B4-BE49-F238E27FC236}">
                <a16:creationId xmlns:a16="http://schemas.microsoft.com/office/drawing/2014/main" id="{A7911164-B547-1545-A18F-E0640F2C0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767"/>
          <a:stretch>
            <a:fillRect/>
          </a:stretch>
        </p:blipFill>
        <p:spPr bwMode="auto">
          <a:xfrm>
            <a:off x="3061069" y="5132568"/>
            <a:ext cx="3021862" cy="146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03F59B84-3BF0-A74F-8CE6-48EAFDDE09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UNIX Philosophy</a:t>
            </a:r>
          </a:p>
        </p:txBody>
      </p:sp>
      <p:sp>
        <p:nvSpPr>
          <p:cNvPr id="40962" name="Rectangle 3">
            <a:extLst>
              <a:ext uri="{FF2B5EF4-FFF2-40B4-BE49-F238E27FC236}">
                <a16:creationId xmlns:a16="http://schemas.microsoft.com/office/drawing/2014/main" id="{64A8D4CC-4A65-3A48-A29F-DC7AF5A30C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5105400"/>
          </a:xfrm>
        </p:spPr>
        <p:txBody>
          <a:bodyPr/>
          <a:lstStyle/>
          <a:p>
            <a:pPr eaLnBrk="1" hangingPunct="1"/>
            <a:r>
              <a:rPr lang="en-US" altLang="en-US" dirty="0"/>
              <a:t>Small is beautiful</a:t>
            </a:r>
          </a:p>
          <a:p>
            <a:pPr lvl="1" eaLnBrk="1" hangingPunct="1"/>
            <a:r>
              <a:rPr lang="en-US" altLang="en-US" dirty="0"/>
              <a:t>Easy to understand</a:t>
            </a:r>
          </a:p>
          <a:p>
            <a:pPr lvl="1" eaLnBrk="1" hangingPunct="1"/>
            <a:r>
              <a:rPr lang="en-US" altLang="en-US" dirty="0"/>
              <a:t>Easy to maintain</a:t>
            </a:r>
          </a:p>
          <a:p>
            <a:pPr lvl="1" eaLnBrk="1" hangingPunct="1"/>
            <a:r>
              <a:rPr lang="en-US" altLang="en-US" dirty="0"/>
              <a:t>More efficient</a:t>
            </a:r>
          </a:p>
          <a:p>
            <a:pPr lvl="1" eaLnBrk="1" hangingPunct="1"/>
            <a:r>
              <a:rPr lang="en-US" altLang="en-US" dirty="0"/>
              <a:t>Better for reuse</a:t>
            </a:r>
          </a:p>
          <a:p>
            <a:pPr eaLnBrk="1" hangingPunct="1"/>
            <a:r>
              <a:rPr lang="en-US" altLang="en-US" dirty="0"/>
              <a:t>Make each program do one thing well</a:t>
            </a:r>
          </a:p>
          <a:p>
            <a:pPr lvl="1" eaLnBrk="1" hangingPunct="1"/>
            <a:r>
              <a:rPr lang="en-US" altLang="en-US" dirty="0"/>
              <a:t>More complex functionality by combining programs</a:t>
            </a:r>
          </a:p>
          <a:p>
            <a:pPr lvl="1" eaLnBrk="1" hangingPunct="1"/>
            <a:r>
              <a:rPr lang="en-US" altLang="en-US" b="1" dirty="0">
                <a:solidFill>
                  <a:srgbClr val="7030A0"/>
                </a:solidFill>
              </a:rPr>
              <a:t>Make every program independent</a:t>
            </a:r>
          </a:p>
        </p:txBody>
      </p:sp>
      <p:pic>
        <p:nvPicPr>
          <p:cNvPr id="40963" name="Picture 4">
            <a:extLst>
              <a:ext uri="{FF2B5EF4-FFF2-40B4-BE49-F238E27FC236}">
                <a16:creationId xmlns:a16="http://schemas.microsoft.com/office/drawing/2014/main" id="{CC2161B5-B08C-A143-90E6-BAB2D8417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752600"/>
            <a:ext cx="2076450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611D192F-F8AC-BF47-AC62-6A9FC71CE9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UNIX Philosophy</a:t>
            </a:r>
          </a:p>
        </p:txBody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5EBDD644-B36B-FD43-96A5-E2D8C8D79F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78573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dirty="0"/>
              <a:t>Portability over efficiency</a:t>
            </a:r>
          </a:p>
          <a:p>
            <a:pPr lvl="1" eaLnBrk="1" hangingPunct="1"/>
            <a:r>
              <a:rPr lang="en-US" altLang="en-US" dirty="0"/>
              <a:t>Most efficient implementation is rarely portable</a:t>
            </a:r>
          </a:p>
          <a:p>
            <a:pPr lvl="1" eaLnBrk="1" hangingPunct="1"/>
            <a:r>
              <a:rPr lang="en-US" altLang="en-US" dirty="0"/>
              <a:t>Portability better for rapidly changing hardware</a:t>
            </a:r>
          </a:p>
          <a:p>
            <a:pPr eaLnBrk="1" hangingPunct="1"/>
            <a:r>
              <a:rPr lang="en-US" altLang="en-US" dirty="0"/>
              <a:t>Use flat ASCII files</a:t>
            </a:r>
          </a:p>
          <a:p>
            <a:pPr lvl="1" eaLnBrk="1" hangingPunct="1"/>
            <a:r>
              <a:rPr lang="en-US" altLang="en-US" dirty="0"/>
              <a:t>Common, simple file format</a:t>
            </a:r>
          </a:p>
          <a:p>
            <a:pPr lvl="1" eaLnBrk="1" hangingPunct="1"/>
            <a:r>
              <a:rPr lang="en-US" altLang="en-US" dirty="0"/>
              <a:t>Example of portability over efficiency</a:t>
            </a:r>
          </a:p>
          <a:p>
            <a:pPr eaLnBrk="1" hangingPunct="1"/>
            <a:r>
              <a:rPr lang="en-US" altLang="en-US" dirty="0"/>
              <a:t>Reusable code</a:t>
            </a:r>
          </a:p>
          <a:p>
            <a:pPr lvl="1" eaLnBrk="1" hangingPunct="1"/>
            <a:r>
              <a:rPr lang="en-US" altLang="en-US" dirty="0"/>
              <a:t>Good programmers write good code;</a:t>
            </a:r>
            <a:br>
              <a:rPr lang="en-US" altLang="en-US" dirty="0"/>
            </a:br>
            <a:r>
              <a:rPr lang="en-US" altLang="en-US" dirty="0"/>
              <a:t>great programmers borrow good code</a:t>
            </a:r>
          </a:p>
        </p:txBody>
      </p:sp>
      <p:sp>
        <p:nvSpPr>
          <p:cNvPr id="43011" name="Text Box 4">
            <a:extLst>
              <a:ext uri="{FF2B5EF4-FFF2-40B4-BE49-F238E27FC236}">
                <a16:creationId xmlns:a16="http://schemas.microsoft.com/office/drawing/2014/main" id="{AA26A1B1-E91E-A54D-BC74-1F1E1B2C6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1371600"/>
            <a:ext cx="1371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/>
              <a:t>..continued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E2030EA4-3877-DA43-B6D2-DBF1FD57B5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UNIX Philosophy</a:t>
            </a:r>
          </a:p>
        </p:txBody>
      </p:sp>
      <p:sp>
        <p:nvSpPr>
          <p:cNvPr id="45058" name="Rectangle 3">
            <a:extLst>
              <a:ext uri="{FF2B5EF4-FFF2-40B4-BE49-F238E27FC236}">
                <a16:creationId xmlns:a16="http://schemas.microsoft.com/office/drawing/2014/main" id="{8362A7E8-2955-0846-AF4C-B2AC63C3AD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5105400"/>
          </a:xfrm>
        </p:spPr>
        <p:txBody>
          <a:bodyPr/>
          <a:lstStyle/>
          <a:p>
            <a:pPr eaLnBrk="1" hangingPunct="1"/>
            <a:r>
              <a:rPr lang="en-US" altLang="en-US" dirty="0"/>
              <a:t>Avoid </a:t>
            </a:r>
            <a:r>
              <a:rPr lang="en-US" altLang="en-US" i="1" dirty="0"/>
              <a:t>captive interfaces (GUIs)</a:t>
            </a:r>
          </a:p>
          <a:p>
            <a:pPr lvl="1" eaLnBrk="1" hangingPunct="1"/>
            <a:r>
              <a:rPr lang="en-US" altLang="en-US" dirty="0"/>
              <a:t>The user of a program isn</a:t>
            </a:r>
            <a:r>
              <a:rPr lang="en-US" altLang="en-US" dirty="0">
                <a:latin typeface="Arial" panose="020B0604020202020204" pitchFamily="34" charset="0"/>
              </a:rPr>
              <a:t>’</a:t>
            </a:r>
            <a:r>
              <a:rPr lang="en-US" altLang="ja-JP" dirty="0"/>
              <a:t>t always human</a:t>
            </a:r>
          </a:p>
          <a:p>
            <a:pPr lvl="1" eaLnBrk="1" hangingPunct="1"/>
            <a:r>
              <a:rPr lang="en-US" altLang="en-US" dirty="0"/>
              <a:t>Looks nice, but code is big and ugly</a:t>
            </a:r>
          </a:p>
          <a:p>
            <a:pPr lvl="1" eaLnBrk="1" hangingPunct="1"/>
            <a:r>
              <a:rPr lang="en-US" altLang="en-US" dirty="0"/>
              <a:t>Problems with scale</a:t>
            </a:r>
          </a:p>
          <a:p>
            <a:pPr eaLnBrk="1" hangingPunct="1"/>
            <a:r>
              <a:rPr lang="en-US" altLang="en-US" dirty="0"/>
              <a:t>Silence is golden</a:t>
            </a:r>
          </a:p>
          <a:p>
            <a:pPr lvl="1" eaLnBrk="1" hangingPunct="1"/>
            <a:r>
              <a:rPr lang="en-US" altLang="en-US" dirty="0"/>
              <a:t>Only report if something is wrong</a:t>
            </a:r>
          </a:p>
          <a:p>
            <a:pPr eaLnBrk="1" hangingPunct="1"/>
            <a:r>
              <a:rPr lang="en-US" altLang="en-US" dirty="0"/>
              <a:t>Think hierarchically</a:t>
            </a:r>
          </a:p>
        </p:txBody>
      </p:sp>
      <p:sp>
        <p:nvSpPr>
          <p:cNvPr id="45060" name="Text Box 7">
            <a:extLst>
              <a:ext uri="{FF2B5EF4-FFF2-40B4-BE49-F238E27FC236}">
                <a16:creationId xmlns:a16="http://schemas.microsoft.com/office/drawing/2014/main" id="{45749190-E176-504E-A970-B746D5D12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1371600"/>
            <a:ext cx="1371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/>
              <a:t>..continued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extBox 4">
            <a:hlinkClick r:id="rId2"/>
            <a:extLst>
              <a:ext uri="{FF2B5EF4-FFF2-40B4-BE49-F238E27FC236}">
                <a16:creationId xmlns:a16="http://schemas.microsoft.com/office/drawing/2014/main" id="{1F2E26E2-DAFD-ED43-BBA9-384C7D109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800600"/>
            <a:ext cx="88153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hlinkClick r:id="rId2"/>
              </a:rPr>
              <a:t>https://www.codepuppet.com/2012/06/08/directory-structure-in-linux/</a:t>
            </a:r>
            <a:endParaRPr lang="en-US" altLang="en-US" sz="2400" dirty="0"/>
          </a:p>
        </p:txBody>
      </p:sp>
      <p:pic>
        <p:nvPicPr>
          <p:cNvPr id="47106" name="Picture 5">
            <a:extLst>
              <a:ext uri="{FF2B5EF4-FFF2-40B4-BE49-F238E27FC236}">
                <a16:creationId xmlns:a16="http://schemas.microsoft.com/office/drawing/2014/main" id="{EDFF3D49-6A6B-884B-B9E0-A33EDADC93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828800"/>
            <a:ext cx="8229600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7" name="Title 6">
            <a:extLst>
              <a:ext uri="{FF2B5EF4-FFF2-40B4-BE49-F238E27FC236}">
                <a16:creationId xmlns:a16="http://schemas.microsoft.com/office/drawing/2014/main" id="{CC263263-8AF9-1245-8E48-03F26D1CFE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Typical Unix/Linux Structure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D3C5C5CE-A5C9-D649-984A-213C9D627C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Operating System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57158AC0-03E4-9045-8131-4AF04406CC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government of your computer</a:t>
            </a:r>
          </a:p>
          <a:p>
            <a:pPr eaLnBrk="1" hangingPunct="1"/>
            <a:r>
              <a:rPr lang="en-US" altLang="en-US" dirty="0"/>
              <a:t>Kernel: Performs critical system functions and interacts with the hardware</a:t>
            </a:r>
          </a:p>
          <a:p>
            <a:pPr eaLnBrk="1" hangingPunct="1"/>
            <a:r>
              <a:rPr lang="en-US" altLang="en-US" dirty="0"/>
              <a:t>Systems utilities: Programs and libraries that provide various functions through systems calls to the kernel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3EA173B5-8A62-BA48-852F-C8B81C6544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Kernel Basics</a:t>
            </a:r>
          </a:p>
        </p:txBody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C2D768B6-AA0F-8C45-A4FC-AB70F45073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kernel is …</a:t>
            </a:r>
          </a:p>
          <a:p>
            <a:pPr lvl="1" eaLnBrk="1" hangingPunct="1"/>
            <a:r>
              <a:rPr lang="en-US" altLang="en-US" dirty="0"/>
              <a:t>a program loaded into memory during the boot process, and always stays in physical memory.</a:t>
            </a:r>
          </a:p>
          <a:p>
            <a:pPr lvl="1" eaLnBrk="1" hangingPunct="1"/>
            <a:r>
              <a:rPr lang="en-US" altLang="en-US" dirty="0"/>
              <a:t>responsible for managing CPU and memory for processes, managing file systems, and interacting with devices.</a:t>
            </a:r>
          </a:p>
          <a:p>
            <a:pPr lvl="1"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D053B210-CC12-4D4A-AB18-BA1028448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495800"/>
            <a:ext cx="6781800" cy="106680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226" name="Rectangle 3">
            <a:extLst>
              <a:ext uri="{FF2B5EF4-FFF2-40B4-BE49-F238E27FC236}">
                <a16:creationId xmlns:a16="http://schemas.microsoft.com/office/drawing/2014/main" id="{FBBF6763-9853-FD44-A10E-40C37A7FC0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UNIX Structural Layout</a:t>
            </a:r>
          </a:p>
        </p:txBody>
      </p:sp>
      <p:sp>
        <p:nvSpPr>
          <p:cNvPr id="52227" name="Rectangle 4">
            <a:extLst>
              <a:ext uri="{FF2B5EF4-FFF2-40B4-BE49-F238E27FC236}">
                <a16:creationId xmlns:a16="http://schemas.microsoft.com/office/drawing/2014/main" id="{C476BED4-55F1-0E4F-A254-4946E8C71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057400"/>
            <a:ext cx="6781800" cy="1219200"/>
          </a:xfrm>
          <a:prstGeom prst="rect">
            <a:avLst/>
          </a:prstGeom>
          <a:solidFill>
            <a:schemeClr val="bg2"/>
          </a:solidFill>
          <a:ln w="76200" cmpd="tri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228" name="Rectangle 5">
            <a:extLst>
              <a:ext uri="{FF2B5EF4-FFF2-40B4-BE49-F238E27FC236}">
                <a16:creationId xmlns:a16="http://schemas.microsoft.com/office/drawing/2014/main" id="{8CD83D01-2CA1-9748-828E-CC78F2F8E5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276600"/>
            <a:ext cx="6781800" cy="12192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76200" cmpd="tri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229" name="Text Box 6">
            <a:extLst>
              <a:ext uri="{FF2B5EF4-FFF2-40B4-BE49-F238E27FC236}">
                <a16:creationId xmlns:a16="http://schemas.microsoft.com/office/drawing/2014/main" id="{61659071-FFC5-E942-9332-3E8072F60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450247"/>
            <a:ext cx="36576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User Space</a:t>
            </a:r>
          </a:p>
        </p:txBody>
      </p:sp>
      <p:sp>
        <p:nvSpPr>
          <p:cNvPr id="52230" name="Text Box 7">
            <a:extLst>
              <a:ext uri="{FF2B5EF4-FFF2-40B4-BE49-F238E27FC236}">
                <a16:creationId xmlns:a16="http://schemas.microsoft.com/office/drawing/2014/main" id="{1096FEDD-62B8-3240-90D3-544C92B65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655220"/>
            <a:ext cx="36576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Kernel</a:t>
            </a:r>
          </a:p>
        </p:txBody>
      </p:sp>
      <p:sp>
        <p:nvSpPr>
          <p:cNvPr id="52231" name="Text Box 8">
            <a:extLst>
              <a:ext uri="{FF2B5EF4-FFF2-40B4-BE49-F238E27FC236}">
                <a16:creationId xmlns:a16="http://schemas.microsoft.com/office/drawing/2014/main" id="{7CCA0B5F-9C09-4049-862F-24A8CBACE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724400"/>
            <a:ext cx="205740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Devices</a:t>
            </a:r>
            <a:endParaRPr lang="en-US" altLang="en-US" dirty="0">
              <a:solidFill>
                <a:srgbClr val="CCFF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232" name="Text Box 9">
            <a:extLst>
              <a:ext uri="{FF2B5EF4-FFF2-40B4-BE49-F238E27FC236}">
                <a16:creationId xmlns:a16="http://schemas.microsoft.com/office/drawing/2014/main" id="{C6B88DB5-1759-3E44-9A55-E54FE76542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667000"/>
            <a:ext cx="259080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system calls</a:t>
            </a:r>
          </a:p>
        </p:txBody>
      </p:sp>
      <p:sp>
        <p:nvSpPr>
          <p:cNvPr id="52233" name="Text Box 10">
            <a:extLst>
              <a:ext uri="{FF2B5EF4-FFF2-40B4-BE49-F238E27FC236}">
                <a16:creationId xmlns:a16="http://schemas.microsoft.com/office/drawing/2014/main" id="{4F08BF18-5C2B-B143-82DE-97F89EE86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886200"/>
            <a:ext cx="259080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device drivers</a:t>
            </a:r>
          </a:p>
        </p:txBody>
      </p:sp>
      <p:sp>
        <p:nvSpPr>
          <p:cNvPr id="52234" name="Line 11">
            <a:extLst>
              <a:ext uri="{FF2B5EF4-FFF2-40B4-BE49-F238E27FC236}">
                <a16:creationId xmlns:a16="http://schemas.microsoft.com/office/drawing/2014/main" id="{75A0905B-6673-4E49-90B6-88C222B1D8E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4191000"/>
            <a:ext cx="0" cy="30480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235" name="Line 12">
            <a:extLst>
              <a:ext uri="{FF2B5EF4-FFF2-40B4-BE49-F238E27FC236}">
                <a16:creationId xmlns:a16="http://schemas.microsoft.com/office/drawing/2014/main" id="{A3DE3452-5CA9-774A-9EA7-D2E8387A86D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971800"/>
            <a:ext cx="0" cy="30480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236" name="Text Box 13">
            <a:extLst>
              <a:ext uri="{FF2B5EF4-FFF2-40B4-BE49-F238E27FC236}">
                <a16:creationId xmlns:a16="http://schemas.microsoft.com/office/drawing/2014/main" id="{6EF3C6D3-40AD-024A-A717-A93FFB875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209800"/>
            <a:ext cx="259080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00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shell scripts</a:t>
            </a:r>
          </a:p>
        </p:txBody>
      </p:sp>
      <p:sp>
        <p:nvSpPr>
          <p:cNvPr id="52237" name="Text Box 14">
            <a:extLst>
              <a:ext uri="{FF2B5EF4-FFF2-40B4-BE49-F238E27FC236}">
                <a16:creationId xmlns:a16="http://schemas.microsoft.com/office/drawing/2014/main" id="{AA5B2A55-6B8D-474D-92E9-4FCBC4104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178050"/>
            <a:ext cx="259080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utilities</a:t>
            </a:r>
          </a:p>
        </p:txBody>
      </p:sp>
      <p:sp>
        <p:nvSpPr>
          <p:cNvPr id="52238" name="Text Box 15">
            <a:extLst>
              <a:ext uri="{FF2B5EF4-FFF2-40B4-BE49-F238E27FC236}">
                <a16:creationId xmlns:a16="http://schemas.microsoft.com/office/drawing/2014/main" id="{31B84031-6B90-BC41-A295-2403521F8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787650"/>
            <a:ext cx="259080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compilers</a:t>
            </a:r>
          </a:p>
        </p:txBody>
      </p:sp>
      <p:sp>
        <p:nvSpPr>
          <p:cNvPr id="52239" name="Text Box 16">
            <a:extLst>
              <a:ext uri="{FF2B5EF4-FFF2-40B4-BE49-F238E27FC236}">
                <a16:creationId xmlns:a16="http://schemas.microsoft.com/office/drawing/2014/main" id="{0A1F32AA-A183-D04D-B2A2-80E0D9842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429000"/>
            <a:ext cx="259080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signal handler</a:t>
            </a:r>
          </a:p>
        </p:txBody>
      </p:sp>
      <p:sp>
        <p:nvSpPr>
          <p:cNvPr id="52240" name="Text Box 17">
            <a:extLst>
              <a:ext uri="{FF2B5EF4-FFF2-40B4-BE49-F238E27FC236}">
                <a16:creationId xmlns:a16="http://schemas.microsoft.com/office/drawing/2014/main" id="{8D427166-389F-444D-A0CC-00F183C4F0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429000"/>
            <a:ext cx="259080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scheduler</a:t>
            </a:r>
          </a:p>
        </p:txBody>
      </p:sp>
      <p:sp>
        <p:nvSpPr>
          <p:cNvPr id="52241" name="Text Box 18">
            <a:extLst>
              <a:ext uri="{FF2B5EF4-FFF2-40B4-BE49-F238E27FC236}">
                <a16:creationId xmlns:a16="http://schemas.microsoft.com/office/drawing/2014/main" id="{3EE4CF1D-42B8-AD49-A509-C39047091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886200"/>
            <a:ext cx="259080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swapper</a:t>
            </a:r>
          </a:p>
        </p:txBody>
      </p:sp>
      <p:sp>
        <p:nvSpPr>
          <p:cNvPr id="52242" name="Text Box 19">
            <a:extLst>
              <a:ext uri="{FF2B5EF4-FFF2-40B4-BE49-F238E27FC236}">
                <a16:creationId xmlns:a16="http://schemas.microsoft.com/office/drawing/2014/main" id="{91B9D523-36ED-CB46-8035-4D0E1F4FD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616450"/>
            <a:ext cx="259080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terminal</a:t>
            </a:r>
          </a:p>
        </p:txBody>
      </p:sp>
      <p:sp>
        <p:nvSpPr>
          <p:cNvPr id="52243" name="Text Box 20">
            <a:extLst>
              <a:ext uri="{FF2B5EF4-FFF2-40B4-BE49-F238E27FC236}">
                <a16:creationId xmlns:a16="http://schemas.microsoft.com/office/drawing/2014/main" id="{A6E1C24B-FAA9-034F-9140-4014CEECC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073650"/>
            <a:ext cx="259080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disk</a:t>
            </a:r>
          </a:p>
        </p:txBody>
      </p:sp>
      <p:sp>
        <p:nvSpPr>
          <p:cNvPr id="52244" name="Text Box 21">
            <a:extLst>
              <a:ext uri="{FF2B5EF4-FFF2-40B4-BE49-F238E27FC236}">
                <a16:creationId xmlns:a16="http://schemas.microsoft.com/office/drawing/2014/main" id="{348FD7DD-4BD9-5148-83A4-0ECEA573F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616450"/>
            <a:ext cx="259080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printer</a:t>
            </a:r>
          </a:p>
        </p:txBody>
      </p:sp>
      <p:sp>
        <p:nvSpPr>
          <p:cNvPr id="52245" name="Text Box 22">
            <a:extLst>
              <a:ext uri="{FF2B5EF4-FFF2-40B4-BE49-F238E27FC236}">
                <a16:creationId xmlns:a16="http://schemas.microsoft.com/office/drawing/2014/main" id="{C0003786-1081-FD42-9AF1-6F52C4326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073650"/>
            <a:ext cx="259080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RAM</a:t>
            </a:r>
          </a:p>
        </p:txBody>
      </p:sp>
      <p:sp>
        <p:nvSpPr>
          <p:cNvPr id="52246" name="Line 23">
            <a:extLst>
              <a:ext uri="{FF2B5EF4-FFF2-40B4-BE49-F238E27FC236}">
                <a16:creationId xmlns:a16="http://schemas.microsoft.com/office/drawing/2014/main" id="{B6DFF046-0343-1046-814D-260E26C2F5E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2971800"/>
            <a:ext cx="0" cy="30480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247" name="Line 24">
            <a:extLst>
              <a:ext uri="{FF2B5EF4-FFF2-40B4-BE49-F238E27FC236}">
                <a16:creationId xmlns:a16="http://schemas.microsoft.com/office/drawing/2014/main" id="{DCD3C701-F1D1-A948-9A91-873B2C63EEF0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4191000"/>
            <a:ext cx="0" cy="30480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248" name="Text Box 25">
            <a:extLst>
              <a:ext uri="{FF2B5EF4-FFF2-40B4-BE49-F238E27FC236}">
                <a16:creationId xmlns:a16="http://schemas.microsoft.com/office/drawing/2014/main" id="{DFCD32BE-7CBE-254F-B0C6-D8945F09D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482850"/>
            <a:ext cx="259080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C programs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8A36F9B9-A5C9-6849-90EB-D425D64734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Kernel Subsystems</a:t>
            </a:r>
          </a:p>
        </p:txBody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E11A73C4-0B04-6E43-AD72-04960698E5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9235" y="1745974"/>
            <a:ext cx="7772400" cy="4343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Process management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Schedule processes to run on CPU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Inter-process communication (IPC)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Memory management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Virtual memory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Paging and swapping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I/O system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File system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Device drivers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Buffer cache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Impact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</TotalTime>
  <Words>854</Words>
  <Application>Microsoft Macintosh PowerPoint</Application>
  <PresentationFormat>On-screen Show (4:3)</PresentationFormat>
  <Paragraphs>161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Impact</vt:lpstr>
      <vt:lpstr>Times New Roman</vt:lpstr>
      <vt:lpstr>Default Design</vt:lpstr>
      <vt:lpstr>UNIX Tools Lecture 1</vt:lpstr>
      <vt:lpstr>What will we cover?</vt:lpstr>
      <vt:lpstr>Operating System</vt:lpstr>
      <vt:lpstr>Our Heroes</vt:lpstr>
      <vt:lpstr>PowerPoint Presentation</vt:lpstr>
      <vt:lpstr>Video Games Spark Innovation</vt:lpstr>
      <vt:lpstr>In the Beginning</vt:lpstr>
      <vt:lpstr>PowerPoint Presentation</vt:lpstr>
      <vt:lpstr>Commercial Success</vt:lpstr>
      <vt:lpstr>Send in the Clones</vt:lpstr>
      <vt:lpstr>Darwin</vt:lpstr>
      <vt:lpstr>The UNIX Philosophy</vt:lpstr>
      <vt:lpstr>The UNIX Philosophy</vt:lpstr>
      <vt:lpstr>The UNIX Philosophy</vt:lpstr>
      <vt:lpstr>Typical Unix/Linux Structure</vt:lpstr>
      <vt:lpstr>The Operating System</vt:lpstr>
      <vt:lpstr>Kernel Basics</vt:lpstr>
      <vt:lpstr>UNIX Structural Layout</vt:lpstr>
      <vt:lpstr>Kernel Subsystems</vt:lpstr>
    </vt:vector>
  </TitlesOfParts>
  <Company>AT&amp;T Labs Research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</dc:title>
  <dc:creator>Jeffrey Korn</dc:creator>
  <cp:lastModifiedBy>Scott Kelley</cp:lastModifiedBy>
  <cp:revision>166</cp:revision>
  <dcterms:created xsi:type="dcterms:W3CDTF">2001-09-03T23:05:53Z</dcterms:created>
  <dcterms:modified xsi:type="dcterms:W3CDTF">2025-01-28T16:17:02Z</dcterms:modified>
</cp:coreProperties>
</file>